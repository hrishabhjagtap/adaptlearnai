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50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AdaptLearn AI, an AI-Based Personalized Learning Content Generator. Traditional learning materials often give everyone the same explanations even when their understanding differs. Our prototype generates educational material at Beginner, Intermediate and Advanced levels and adapts the next lesson based on quiz performance. We built it using Python, Streamlit and the Gemini API.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many educational resources offer the same content to every student. A beginner may find it too difficult, while an experienced learner may find it repetitive. Our main goals are to generate level-appropriate lessons using generative AI, create quizzes, evaluate performance, recommend an easier, same or harder next level, and display progress in the current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the main language. Streamlit builds the interface and provides temporary session storage. In live mode, we call Google's Gemini API to generate content. We create difficulty-aware prompts to guide the model and use Pydantic plus custom validation to check the returned response structure. Python scores the quizzes and applies simple adaptive rules. The python-dotenv library allows local configuration of an API key. We did not train an ML model from scratch and the prototype does not have a permanent database.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selects the topic, difficulty, preferred explanation style, and language. Streamlit collects the information and Python composes a structured prompt, which the Gemini API uses in live mode. The response contains the lesson, key points, a worked example and five MCQs. Pydantic and a validation function check the required fields. Students take the quiz; Python scores their answers. The adaptive engine chooses the next level and the next lesson can focus on previously missed questions. Offline demo mode uses predefined Linked Lists content instead of calling Gemini.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personalization technique is prompt engineering. We pass the topic, level, explanation style, language, and missed quiz questions into Gemini's prompt. Beginner requests basic definitions and analogies. Intermediate requires implementation, algorithms and practice. Advanced asks for edge cases, optimization and deeper reasoning, plus harder questions. This screenshot is from our offline Linked Lists demonstration. In live mode, Gemini generates new content. We use structured response fields for title, overview, key points, worked example and quiz.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lesson includes five multiple-choice questions. The application compares selected options against the correct answer indices and calculates a score. The difficulty policy is straightforward: zero to two correct lowers the level by one if possible, three to four correct keeps the level, and five correct raises it by one if possible. Beginner is the floor and Advanced is the ceiling. In our actual test, one out of five at Beginner level resulted in Beginner recommended again. The app can also collect missed question texts for the next Gemini prompt. This is an adaptation of content, not the training of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we delivered a Streamlit interface, three proficiency levels, the option to generate educational content with Gemini, a five-question quiz, feedback-based difficulty adjustment, and a progress table for the current session. The limitations are that the live AI requires network access, generated content needs verification, progress is temporary, and the rule engine is simple. Future improvements include permanent student records, PDF syllabus upload, doubt solving and richer learning analytics.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110" y="90737"/>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73152"/>
          </a:xfrm>
          <a:prstGeom prst="rect">
            <a:avLst/>
          </a:prstGeom>
          <a:solidFill>
            <a:srgbClr val="7667F4"/>
          </a:solidFill>
          <a:ln w="12700">
            <a:solidFill>
              <a:srgbClr val="7667F4">
                <a:alpha val="0"/>
              </a:srgbClr>
            </a:solidFill>
            <a:prstDash val="solid"/>
          </a:ln>
        </p:spPr>
      </p:sp>
      <p:sp>
        <p:nvSpPr>
          <p:cNvPr id="4" name="Shape 2"/>
          <p:cNvSpPr/>
          <p:nvPr/>
        </p:nvSpPr>
        <p:spPr>
          <a:xfrm>
            <a:off x="7406640" y="137160"/>
            <a:ext cx="4114800" cy="4114800"/>
          </a:xfrm>
          <a:prstGeom prst="ellipse">
            <a:avLst/>
          </a:prstGeom>
          <a:solidFill>
            <a:srgbClr val="7667F4">
              <a:alpha val="11000"/>
            </a:srgbClr>
          </a:solidFill>
          <a:ln w="12700">
            <a:solidFill>
              <a:srgbClr val="7667F4">
                <a:alpha val="0"/>
              </a:srgbClr>
            </a:solidFill>
            <a:prstDash val="solid"/>
          </a:ln>
        </p:spPr>
      </p:sp>
      <p:sp>
        <p:nvSpPr>
          <p:cNvPr id="5" name="Shape 3"/>
          <p:cNvSpPr/>
          <p:nvPr/>
        </p:nvSpPr>
        <p:spPr>
          <a:xfrm>
            <a:off x="73152" y="4709160"/>
            <a:ext cx="1737360" cy="1737360"/>
          </a:xfrm>
          <a:prstGeom prst="ellipse">
            <a:avLst/>
          </a:prstGeom>
          <a:solidFill>
            <a:srgbClr val="50D1C0">
              <a:alpha val="5000"/>
            </a:srgbClr>
          </a:solidFill>
          <a:ln w="12700">
            <a:solidFill>
              <a:srgbClr val="50D1C0">
                <a:alpha val="0"/>
              </a:srgbClr>
            </a:solidFill>
            <a:prstDash val="solid"/>
          </a:ln>
        </p:spPr>
      </p:sp>
      <p:sp>
        <p:nvSpPr>
          <p:cNvPr id="6" name="Shape 4"/>
          <p:cNvSpPr/>
          <p:nvPr/>
        </p:nvSpPr>
        <p:spPr>
          <a:xfrm>
            <a:off x="658368" y="521208"/>
            <a:ext cx="2139696" cy="329184"/>
          </a:xfrm>
          <a:prstGeom prst="roundRect">
            <a:avLst>
              <a:gd name="adj" fmla="val 47222"/>
            </a:avLst>
          </a:prstGeom>
          <a:solidFill>
            <a:srgbClr val="192541"/>
          </a:solidFill>
          <a:ln w="12700">
            <a:solidFill>
              <a:srgbClr val="192541">
                <a:alpha val="0"/>
              </a:srgbClr>
            </a:solidFill>
            <a:prstDash val="solid"/>
          </a:ln>
        </p:spPr>
      </p:sp>
      <p:sp>
        <p:nvSpPr>
          <p:cNvPr id="7" name="Text 5"/>
          <p:cNvSpPr/>
          <p:nvPr/>
        </p:nvSpPr>
        <p:spPr>
          <a:xfrm>
            <a:off x="768096" y="557784"/>
            <a:ext cx="192024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FINAL PROJECT  ·  PS-1</a:t>
            </a:r>
            <a:endParaRPr lang="en-US" sz="1010" dirty="0"/>
          </a:p>
        </p:txBody>
      </p:sp>
      <p:sp>
        <p:nvSpPr>
          <p:cNvPr id="8" name="Text 6"/>
          <p:cNvSpPr/>
          <p:nvPr/>
        </p:nvSpPr>
        <p:spPr>
          <a:xfrm>
            <a:off x="658368" y="1307592"/>
            <a:ext cx="6217920" cy="868680"/>
          </a:xfrm>
          <a:prstGeom prst="rect">
            <a:avLst/>
          </a:prstGeom>
          <a:noFill/>
          <a:ln/>
        </p:spPr>
        <p:txBody>
          <a:bodyPr wrap="square" lIns="0" tIns="0" rIns="0" bIns="0" rtlCol="0" anchor="ctr"/>
          <a:lstStyle/>
          <a:p>
            <a:pPr marL="0" indent="0" algn="l">
              <a:lnSpc>
                <a:spcPct val="100000"/>
              </a:lnSpc>
              <a:buNone/>
            </a:pPr>
            <a:r>
              <a:rPr lang="en-US" sz="5100" b="1" dirty="0">
                <a:solidFill>
                  <a:srgbClr val="F8FAFF"/>
                </a:solidFill>
                <a:latin typeface="Aptos" pitchFamily="34" charset="0"/>
                <a:ea typeface="Aptos" pitchFamily="34" charset="-122"/>
                <a:cs typeface="Aptos" pitchFamily="34" charset="-120"/>
              </a:rPr>
              <a:t>AdaptLearn</a:t>
            </a:r>
            <a:endParaRPr lang="en-US" sz="5100" dirty="0"/>
          </a:p>
        </p:txBody>
      </p:sp>
      <p:sp>
        <p:nvSpPr>
          <p:cNvPr id="9" name="Text 7"/>
          <p:cNvSpPr/>
          <p:nvPr/>
        </p:nvSpPr>
        <p:spPr>
          <a:xfrm>
            <a:off x="658368" y="2130552"/>
            <a:ext cx="2194560" cy="841248"/>
          </a:xfrm>
          <a:prstGeom prst="rect">
            <a:avLst/>
          </a:prstGeom>
          <a:noFill/>
          <a:ln/>
        </p:spPr>
        <p:txBody>
          <a:bodyPr wrap="square" lIns="0" tIns="0" rIns="0" bIns="0" rtlCol="0" anchor="ctr"/>
          <a:lstStyle/>
          <a:p>
            <a:pPr marL="0" indent="0" algn="l">
              <a:lnSpc>
                <a:spcPct val="100000"/>
              </a:lnSpc>
              <a:buNone/>
            </a:pPr>
            <a:r>
              <a:rPr lang="en-US" sz="6000" b="1" dirty="0">
                <a:solidFill>
                  <a:srgbClr val="A89DFF"/>
                </a:solidFill>
                <a:latin typeface="Aptos" pitchFamily="34" charset="0"/>
                <a:ea typeface="Aptos" pitchFamily="34" charset="-122"/>
                <a:cs typeface="Aptos" pitchFamily="34" charset="-120"/>
              </a:rPr>
              <a:t>AI</a:t>
            </a:r>
            <a:endParaRPr lang="en-US" sz="6000" dirty="0"/>
          </a:p>
        </p:txBody>
      </p:sp>
      <p:sp>
        <p:nvSpPr>
          <p:cNvPr id="10" name="Shape 8"/>
          <p:cNvSpPr/>
          <p:nvPr/>
        </p:nvSpPr>
        <p:spPr>
          <a:xfrm>
            <a:off x="685800" y="3099816"/>
            <a:ext cx="868680" cy="64008"/>
          </a:xfrm>
          <a:prstGeom prst="rect">
            <a:avLst/>
          </a:prstGeom>
          <a:solidFill>
            <a:srgbClr val="50D1C0"/>
          </a:solidFill>
          <a:ln w="12700">
            <a:solidFill>
              <a:srgbClr val="50D1C0">
                <a:alpha val="0"/>
              </a:srgbClr>
            </a:solidFill>
            <a:prstDash val="solid"/>
          </a:ln>
        </p:spPr>
      </p:sp>
      <p:sp>
        <p:nvSpPr>
          <p:cNvPr id="11" name="Text 9"/>
          <p:cNvSpPr/>
          <p:nvPr/>
        </p:nvSpPr>
        <p:spPr>
          <a:xfrm>
            <a:off x="676656" y="3410712"/>
            <a:ext cx="5715000" cy="950976"/>
          </a:xfrm>
          <a:prstGeom prst="rect">
            <a:avLst/>
          </a:prstGeom>
          <a:noFill/>
          <a:ln/>
        </p:spPr>
        <p:txBody>
          <a:bodyPr wrap="square" lIns="0" tIns="0" rIns="0" bIns="0" rtlCol="0" anchor="ctr"/>
          <a:lstStyle/>
          <a:p>
            <a:pPr marL="0" indent="0" algn="l">
              <a:lnSpc>
                <a:spcPct val="100000"/>
              </a:lnSpc>
              <a:buNone/>
            </a:pPr>
            <a:r>
              <a:rPr lang="en-US" sz="2500" b="1" dirty="0">
                <a:solidFill>
                  <a:srgbClr val="F8FAFF"/>
                </a:solidFill>
                <a:latin typeface="Aptos" pitchFamily="34" charset="0"/>
                <a:ea typeface="Aptos" pitchFamily="34" charset="-122"/>
                <a:cs typeface="Aptos" pitchFamily="34" charset="-120"/>
              </a:rPr>
              <a:t>AI-Based Personalized</a:t>
            </a:r>
            <a:endParaRPr lang="en-US" sz="2500" dirty="0"/>
          </a:p>
          <a:p>
            <a:pPr marL="0" indent="0" algn="l">
              <a:lnSpc>
                <a:spcPct val="100000"/>
              </a:lnSpc>
              <a:buNone/>
            </a:pPr>
            <a:r>
              <a:rPr lang="en-US" sz="2500" b="1" dirty="0">
                <a:solidFill>
                  <a:srgbClr val="F8FAFF"/>
                </a:solidFill>
                <a:latin typeface="Aptos" pitchFamily="34" charset="0"/>
                <a:ea typeface="Aptos" pitchFamily="34" charset="-122"/>
                <a:cs typeface="Aptos" pitchFamily="34" charset="-120"/>
              </a:rPr>
              <a:t>Learning Content Generator</a:t>
            </a:r>
            <a:endParaRPr lang="en-US" sz="2500" dirty="0"/>
          </a:p>
        </p:txBody>
      </p:sp>
      <p:sp>
        <p:nvSpPr>
          <p:cNvPr id="12" name="Text 10"/>
          <p:cNvSpPr/>
          <p:nvPr/>
        </p:nvSpPr>
        <p:spPr>
          <a:xfrm>
            <a:off x="685800" y="4700016"/>
            <a:ext cx="5212080" cy="347472"/>
          </a:xfrm>
          <a:prstGeom prst="rect">
            <a:avLst/>
          </a:prstGeom>
          <a:noFill/>
          <a:ln/>
        </p:spPr>
        <p:txBody>
          <a:bodyPr wrap="square" lIns="0" tIns="0" rIns="0" bIns="0" rtlCol="0" anchor="ctr"/>
          <a:lstStyle/>
          <a:p>
            <a:pPr marL="0" indent="0" algn="l">
              <a:lnSpc>
                <a:spcPct val="100000"/>
              </a:lnSpc>
              <a:buNone/>
            </a:pPr>
            <a:r>
              <a:rPr lang="en-US" sz="1500" dirty="0">
                <a:solidFill>
                  <a:srgbClr val="B4C0D8"/>
                </a:solidFill>
                <a:latin typeface="Aptos" pitchFamily="34" charset="0"/>
                <a:ea typeface="Aptos" pitchFamily="34" charset="-122"/>
                <a:cs typeface="Aptos" pitchFamily="34" charset="-120"/>
              </a:rPr>
              <a:t>Generative AI &amp; Creative Intelligence</a:t>
            </a:r>
            <a:endParaRPr lang="en-US" sz="1500" dirty="0"/>
          </a:p>
        </p:txBody>
      </p:sp>
      <p:sp>
        <p:nvSpPr>
          <p:cNvPr id="13" name="Text 11"/>
          <p:cNvSpPr/>
          <p:nvPr/>
        </p:nvSpPr>
        <p:spPr>
          <a:xfrm>
            <a:off x="685800" y="5129784"/>
            <a:ext cx="5413248" cy="274320"/>
          </a:xfrm>
          <a:prstGeom prst="rect">
            <a:avLst/>
          </a:prstGeom>
          <a:noFill/>
          <a:ln/>
        </p:spPr>
        <p:txBody>
          <a:bodyPr wrap="square" lIns="0" tIns="0" rIns="0" bIns="0" rtlCol="0" anchor="ctr"/>
          <a:lstStyle/>
          <a:p>
            <a:pPr marL="0" indent="0" algn="l">
              <a:lnSpc>
                <a:spcPct val="100000"/>
              </a:lnSpc>
              <a:buNone/>
            </a:pPr>
            <a:r>
              <a:rPr lang="en-US" sz="1310" dirty="0">
                <a:solidFill>
                  <a:srgbClr val="B4C0D8"/>
                </a:solidFill>
                <a:latin typeface="Aptos" pitchFamily="34" charset="0"/>
                <a:ea typeface="Aptos" pitchFamily="34" charset="-122"/>
                <a:cs typeface="Aptos" pitchFamily="34" charset="-120"/>
              </a:rPr>
              <a:t>B.Tech — Artificial Intelligence &amp; Machine Learning</a:t>
            </a:r>
            <a:endParaRPr lang="en-US" sz="1310" dirty="0"/>
          </a:p>
        </p:txBody>
      </p:sp>
      <p:sp>
        <p:nvSpPr>
          <p:cNvPr id="14" name="Text 12"/>
          <p:cNvSpPr/>
          <p:nvPr/>
        </p:nvSpPr>
        <p:spPr>
          <a:xfrm>
            <a:off x="685800" y="5458968"/>
            <a:ext cx="5029200" cy="274320"/>
          </a:xfrm>
          <a:prstGeom prst="rect">
            <a:avLst/>
          </a:prstGeom>
          <a:noFill/>
          <a:ln/>
        </p:spPr>
        <p:txBody>
          <a:bodyPr wrap="square" lIns="0" tIns="0" rIns="0" bIns="0" rtlCol="0" anchor="ctr"/>
          <a:lstStyle/>
          <a:p>
            <a:pPr marL="0" indent="0" algn="l">
              <a:lnSpc>
                <a:spcPct val="100000"/>
              </a:lnSpc>
              <a:buNone/>
            </a:pPr>
            <a:r>
              <a:rPr lang="en-US" sz="1220" dirty="0">
                <a:solidFill>
                  <a:srgbClr val="8A9BB8"/>
                </a:solidFill>
                <a:latin typeface="Aptos" pitchFamily="34" charset="0"/>
                <a:ea typeface="Aptos" pitchFamily="34" charset="-122"/>
                <a:cs typeface="Aptos" pitchFamily="34" charset="-120"/>
              </a:rPr>
              <a:t>3rd Semester  •  Academic Project 2026</a:t>
            </a:r>
            <a:endParaRPr lang="en-US" sz="1220" dirty="0"/>
          </a:p>
        </p:txBody>
      </p:sp>
      <p:sp>
        <p:nvSpPr>
          <p:cNvPr id="15" name="Shape 13"/>
          <p:cNvSpPr/>
          <p:nvPr/>
        </p:nvSpPr>
        <p:spPr>
          <a:xfrm>
            <a:off x="6437376" y="1335024"/>
            <a:ext cx="5257800" cy="4251960"/>
          </a:xfrm>
          <a:prstGeom prst="roundRect">
            <a:avLst>
              <a:gd name="adj" fmla="val 3656"/>
            </a:avLst>
          </a:prstGeom>
          <a:solidFill>
            <a:srgbClr val="141E35"/>
          </a:solidFill>
          <a:ln w="12700">
            <a:solidFill>
              <a:srgbClr val="2A3854"/>
            </a:solidFill>
            <a:prstDash val="solid"/>
          </a:ln>
        </p:spPr>
      </p:sp>
      <p:pic>
        <p:nvPicPr>
          <p:cNvPr id="16" name="Image 0" descr="/mnt/data/_adaptlearn_build/home.png"/>
          <p:cNvPicPr>
            <a:picLocks noChangeAspect="1"/>
          </p:cNvPicPr>
          <p:nvPr/>
        </p:nvPicPr>
        <p:blipFill>
          <a:blip r:embed="rId3"/>
          <a:stretch>
            <a:fillRect/>
          </a:stretch>
        </p:blipFill>
        <p:spPr>
          <a:xfrm>
            <a:off x="6547104" y="2104821"/>
            <a:ext cx="5038344" cy="2694078"/>
          </a:xfrm>
          <a:prstGeom prst="rect">
            <a:avLst/>
          </a:prstGeom>
        </p:spPr>
      </p:pic>
      <p:sp>
        <p:nvSpPr>
          <p:cNvPr id="17" name="Text 14"/>
          <p:cNvSpPr/>
          <p:nvPr/>
        </p:nvSpPr>
        <p:spPr>
          <a:xfrm>
            <a:off x="6556248" y="5742432"/>
            <a:ext cx="5029200" cy="210312"/>
          </a:xfrm>
          <a:prstGeom prst="rect">
            <a:avLst/>
          </a:prstGeom>
          <a:noFill/>
          <a:ln/>
        </p:spPr>
        <p:txBody>
          <a:bodyPr wrap="square" lIns="0" tIns="0" rIns="0" bIns="0" rtlCol="0" anchor="ctr"/>
          <a:lstStyle/>
          <a:p>
            <a:pPr marL="0" indent="0" algn="ctr">
              <a:lnSpc>
                <a:spcPct val="100000"/>
              </a:lnSpc>
              <a:buNone/>
            </a:pPr>
            <a:r>
              <a:rPr lang="en-US" sz="1060" dirty="0">
                <a:solidFill>
                  <a:srgbClr val="8A9BB8"/>
                </a:solidFill>
                <a:latin typeface="Aptos" pitchFamily="34" charset="0"/>
                <a:ea typeface="Aptos" pitchFamily="34" charset="-122"/>
                <a:cs typeface="Aptos" pitchFamily="34" charset="-120"/>
              </a:rPr>
              <a:t>Prototype interface · Streamlit</a:t>
            </a:r>
            <a:endParaRPr lang="en-US" sz="1060" dirty="0"/>
          </a:p>
        </p:txBody>
      </p:sp>
      <p:sp>
        <p:nvSpPr>
          <p:cNvPr id="18" name="Shape 15"/>
          <p:cNvSpPr/>
          <p:nvPr/>
        </p:nvSpPr>
        <p:spPr>
          <a:xfrm>
            <a:off x="685800" y="6382512"/>
            <a:ext cx="10835640" cy="0"/>
          </a:xfrm>
          <a:prstGeom prst="line">
            <a:avLst/>
          </a:prstGeom>
          <a:noFill/>
          <a:ln w="12700">
            <a:solidFill>
              <a:srgbClr val="2A3854"/>
            </a:solidFill>
            <a:prstDash val="solid"/>
            <a:headEnd type="none"/>
            <a:tailEnd type="none"/>
          </a:ln>
        </p:spPr>
      </p:sp>
      <p:sp>
        <p:nvSpPr>
          <p:cNvPr id="19" name="Text 16"/>
          <p:cNvSpPr/>
          <p:nvPr/>
        </p:nvSpPr>
        <p:spPr>
          <a:xfrm>
            <a:off x="694944" y="6492240"/>
            <a:ext cx="6400800" cy="182880"/>
          </a:xfrm>
          <a:prstGeom prst="rect">
            <a:avLst/>
          </a:prstGeom>
          <a:noFill/>
          <a:ln/>
        </p:spPr>
        <p:txBody>
          <a:bodyPr wrap="square" lIns="0" tIns="0" rIns="0" bIns="0" rtlCol="0" anchor="ctr"/>
          <a:lstStyle/>
          <a:p>
            <a:pPr marL="0" indent="0" algn="l">
              <a:lnSpc>
                <a:spcPct val="100000"/>
              </a:lnSpc>
              <a:buNone/>
            </a:pPr>
            <a:r>
              <a:rPr lang="en-US" sz="1020" dirty="0">
                <a:solidFill>
                  <a:srgbClr val="8A9BB8"/>
                </a:solidFill>
                <a:latin typeface="Aptos" pitchFamily="34" charset="0"/>
                <a:ea typeface="Aptos" pitchFamily="34" charset="-122"/>
                <a:cs typeface="Aptos" pitchFamily="34" charset="-120"/>
              </a:rPr>
              <a:t>Presented by Team Wheel </a:t>
            </a:r>
            <a:r>
              <a:rPr lang="en-US" sz="1020">
                <a:solidFill>
                  <a:srgbClr val="8A9BB8"/>
                </a:solidFill>
                <a:latin typeface="Aptos" pitchFamily="34" charset="0"/>
                <a:ea typeface="Aptos" pitchFamily="34" charset="-122"/>
                <a:cs typeface="Aptos" pitchFamily="34" charset="-120"/>
              </a:rPr>
              <a:t>Of Evolution</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01 / THE CHALLENGE</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One-size-fits-all learning leaves gaps</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Why we built AdaptLearn AI</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02 / 07</a:t>
            </a:r>
            <a:endParaRPr lang="en-US" sz="1020" dirty="0"/>
          </a:p>
        </p:txBody>
      </p:sp>
      <p:sp>
        <p:nvSpPr>
          <p:cNvPr id="10" name="Shape 8"/>
          <p:cNvSpPr/>
          <p:nvPr/>
        </p:nvSpPr>
        <p:spPr>
          <a:xfrm>
            <a:off x="612648" y="1709928"/>
            <a:ext cx="5212080" cy="4315968"/>
          </a:xfrm>
          <a:prstGeom prst="roundRect">
            <a:avLst>
              <a:gd name="adj" fmla="val 3602"/>
            </a:avLst>
          </a:prstGeom>
          <a:solidFill>
            <a:srgbClr val="141E35"/>
          </a:solidFill>
          <a:ln w="12700">
            <a:solidFill>
              <a:srgbClr val="2A3854"/>
            </a:solidFill>
            <a:prstDash val="solid"/>
          </a:ln>
        </p:spPr>
      </p:sp>
      <p:sp>
        <p:nvSpPr>
          <p:cNvPr id="11" name="Text 9"/>
          <p:cNvSpPr/>
          <p:nvPr/>
        </p:nvSpPr>
        <p:spPr>
          <a:xfrm>
            <a:off x="850392" y="1938528"/>
            <a:ext cx="4480560" cy="292608"/>
          </a:xfrm>
          <a:prstGeom prst="rect">
            <a:avLst/>
          </a:prstGeom>
          <a:noFill/>
          <a:ln/>
        </p:spPr>
        <p:txBody>
          <a:bodyPr wrap="square" lIns="0" tIns="0" rIns="0" bIns="0" rtlCol="0" anchor="ctr"/>
          <a:lstStyle/>
          <a:p>
            <a:pPr marL="0" indent="0" algn="l">
              <a:lnSpc>
                <a:spcPct val="100000"/>
              </a:lnSpc>
              <a:buNone/>
            </a:pPr>
            <a:r>
              <a:rPr lang="en-US" sz="1300" b="1" kern="0" spc="100" dirty="0">
                <a:solidFill>
                  <a:srgbClr val="F8898E"/>
                </a:solidFill>
                <a:latin typeface="Aptos" pitchFamily="34" charset="0"/>
                <a:ea typeface="Aptos" pitchFamily="34" charset="-122"/>
                <a:cs typeface="Aptos" pitchFamily="34" charset="-120"/>
              </a:rPr>
              <a:t>THE PROBLEM</a:t>
            </a:r>
            <a:endParaRPr lang="en-US" sz="1300" dirty="0"/>
          </a:p>
        </p:txBody>
      </p:sp>
      <p:sp>
        <p:nvSpPr>
          <p:cNvPr id="12" name="Shape 10"/>
          <p:cNvSpPr/>
          <p:nvPr/>
        </p:nvSpPr>
        <p:spPr>
          <a:xfrm>
            <a:off x="877824" y="2542032"/>
            <a:ext cx="68580" cy="68580"/>
          </a:xfrm>
          <a:prstGeom prst="rect">
            <a:avLst/>
          </a:prstGeom>
          <a:solidFill>
            <a:srgbClr val="F8898E"/>
          </a:solidFill>
          <a:ln w="12700">
            <a:solidFill>
              <a:srgbClr val="F8898E">
                <a:alpha val="0"/>
              </a:srgbClr>
            </a:solidFill>
            <a:prstDash val="solid"/>
          </a:ln>
        </p:spPr>
      </p:sp>
      <p:sp>
        <p:nvSpPr>
          <p:cNvPr id="13" name="Text 11"/>
          <p:cNvSpPr/>
          <p:nvPr/>
        </p:nvSpPr>
        <p:spPr>
          <a:xfrm>
            <a:off x="1078992" y="2414016"/>
            <a:ext cx="4389120" cy="585216"/>
          </a:xfrm>
          <a:prstGeom prst="rect">
            <a:avLst/>
          </a:prstGeom>
          <a:noFill/>
          <a:ln/>
        </p:spPr>
        <p:txBody>
          <a:bodyPr wrap="square" lIns="0" tIns="0" rIns="0" bIns="0" rtlCol="0" anchor="ctr">
            <a:normAutofit/>
          </a:bodyPr>
          <a:lstStyle/>
          <a:p>
            <a:pPr marL="0" indent="0" algn="l">
              <a:lnSpc>
                <a:spcPct val="100000"/>
              </a:lnSpc>
              <a:buNone/>
            </a:pPr>
            <a:r>
              <a:rPr lang="en-US" sz="1520" dirty="0">
                <a:solidFill>
                  <a:srgbClr val="F8FAFF"/>
                </a:solidFill>
                <a:latin typeface="Aptos" pitchFamily="34" charset="0"/>
                <a:ea typeface="Aptos" pitchFamily="34" charset="-122"/>
                <a:cs typeface="Aptos" pitchFamily="34" charset="-120"/>
              </a:rPr>
              <a:t>Beginners struggle when explanations assume prior knowledge.</a:t>
            </a:r>
            <a:endParaRPr lang="en-US" sz="1520" dirty="0"/>
          </a:p>
        </p:txBody>
      </p:sp>
      <p:sp>
        <p:nvSpPr>
          <p:cNvPr id="14" name="Shape 12"/>
          <p:cNvSpPr/>
          <p:nvPr/>
        </p:nvSpPr>
        <p:spPr>
          <a:xfrm>
            <a:off x="877824" y="3282696"/>
            <a:ext cx="68580" cy="68580"/>
          </a:xfrm>
          <a:prstGeom prst="rect">
            <a:avLst/>
          </a:prstGeom>
          <a:solidFill>
            <a:srgbClr val="F8898E"/>
          </a:solidFill>
          <a:ln w="12700">
            <a:solidFill>
              <a:srgbClr val="F8898E">
                <a:alpha val="0"/>
              </a:srgbClr>
            </a:solidFill>
            <a:prstDash val="solid"/>
          </a:ln>
        </p:spPr>
      </p:sp>
      <p:sp>
        <p:nvSpPr>
          <p:cNvPr id="15" name="Text 13"/>
          <p:cNvSpPr/>
          <p:nvPr/>
        </p:nvSpPr>
        <p:spPr>
          <a:xfrm>
            <a:off x="1078992" y="3154680"/>
            <a:ext cx="4389120" cy="585216"/>
          </a:xfrm>
          <a:prstGeom prst="rect">
            <a:avLst/>
          </a:prstGeom>
          <a:noFill/>
          <a:ln/>
        </p:spPr>
        <p:txBody>
          <a:bodyPr wrap="square" lIns="0" tIns="0" rIns="0" bIns="0" rtlCol="0" anchor="ctr">
            <a:normAutofit/>
          </a:bodyPr>
          <a:lstStyle/>
          <a:p>
            <a:pPr marL="0" indent="0" algn="l">
              <a:lnSpc>
                <a:spcPct val="100000"/>
              </a:lnSpc>
              <a:buNone/>
            </a:pPr>
            <a:r>
              <a:rPr lang="en-US" sz="1520" dirty="0">
                <a:solidFill>
                  <a:srgbClr val="F8FAFF"/>
                </a:solidFill>
                <a:latin typeface="Aptos" pitchFamily="34" charset="0"/>
                <a:ea typeface="Aptos" pitchFamily="34" charset="-122"/>
                <a:cs typeface="Aptos" pitchFamily="34" charset="-120"/>
              </a:rPr>
              <a:t>Advanced students repeat concepts they already understand.</a:t>
            </a:r>
            <a:endParaRPr lang="en-US" sz="1520" dirty="0"/>
          </a:p>
        </p:txBody>
      </p:sp>
      <p:sp>
        <p:nvSpPr>
          <p:cNvPr id="16" name="Shape 14"/>
          <p:cNvSpPr/>
          <p:nvPr/>
        </p:nvSpPr>
        <p:spPr>
          <a:xfrm>
            <a:off x="877824" y="4023360"/>
            <a:ext cx="68580" cy="68580"/>
          </a:xfrm>
          <a:prstGeom prst="rect">
            <a:avLst/>
          </a:prstGeom>
          <a:solidFill>
            <a:srgbClr val="F8898E"/>
          </a:solidFill>
          <a:ln w="12700">
            <a:solidFill>
              <a:srgbClr val="F8898E">
                <a:alpha val="0"/>
              </a:srgbClr>
            </a:solidFill>
            <a:prstDash val="solid"/>
          </a:ln>
        </p:spPr>
      </p:sp>
      <p:sp>
        <p:nvSpPr>
          <p:cNvPr id="17" name="Text 15"/>
          <p:cNvSpPr/>
          <p:nvPr/>
        </p:nvSpPr>
        <p:spPr>
          <a:xfrm>
            <a:off x="1078992" y="3895344"/>
            <a:ext cx="4389120" cy="585216"/>
          </a:xfrm>
          <a:prstGeom prst="rect">
            <a:avLst/>
          </a:prstGeom>
          <a:noFill/>
          <a:ln/>
        </p:spPr>
        <p:txBody>
          <a:bodyPr wrap="square" lIns="0" tIns="0" rIns="0" bIns="0" rtlCol="0" anchor="ctr">
            <a:normAutofit/>
          </a:bodyPr>
          <a:lstStyle/>
          <a:p>
            <a:pPr marL="0" indent="0" algn="l">
              <a:lnSpc>
                <a:spcPct val="100000"/>
              </a:lnSpc>
              <a:buNone/>
            </a:pPr>
            <a:r>
              <a:rPr lang="en-US" sz="1520" dirty="0">
                <a:solidFill>
                  <a:srgbClr val="F8FAFF"/>
                </a:solidFill>
                <a:latin typeface="Aptos" pitchFamily="34" charset="0"/>
                <a:ea typeface="Aptos" pitchFamily="34" charset="-122"/>
                <a:cs typeface="Aptos" pitchFamily="34" charset="-120"/>
              </a:rPr>
              <a:t>Static lessons do not respond to assessment performance.</a:t>
            </a:r>
            <a:endParaRPr lang="en-US" sz="1520" dirty="0"/>
          </a:p>
        </p:txBody>
      </p:sp>
      <p:sp>
        <p:nvSpPr>
          <p:cNvPr id="18" name="Shape 16"/>
          <p:cNvSpPr/>
          <p:nvPr/>
        </p:nvSpPr>
        <p:spPr>
          <a:xfrm>
            <a:off x="877824" y="4764024"/>
            <a:ext cx="68580" cy="68580"/>
          </a:xfrm>
          <a:prstGeom prst="rect">
            <a:avLst/>
          </a:prstGeom>
          <a:solidFill>
            <a:srgbClr val="F8898E"/>
          </a:solidFill>
          <a:ln w="12700">
            <a:solidFill>
              <a:srgbClr val="F8898E">
                <a:alpha val="0"/>
              </a:srgbClr>
            </a:solidFill>
            <a:prstDash val="solid"/>
          </a:ln>
        </p:spPr>
      </p:sp>
      <p:sp>
        <p:nvSpPr>
          <p:cNvPr id="19" name="Text 17"/>
          <p:cNvSpPr/>
          <p:nvPr/>
        </p:nvSpPr>
        <p:spPr>
          <a:xfrm>
            <a:off x="1078992" y="4636008"/>
            <a:ext cx="4389120" cy="585216"/>
          </a:xfrm>
          <a:prstGeom prst="rect">
            <a:avLst/>
          </a:prstGeom>
          <a:noFill/>
          <a:ln/>
        </p:spPr>
        <p:txBody>
          <a:bodyPr wrap="square" lIns="0" tIns="0" rIns="0" bIns="0" rtlCol="0" anchor="ctr">
            <a:normAutofit/>
          </a:bodyPr>
          <a:lstStyle/>
          <a:p>
            <a:pPr marL="0" indent="0" algn="l">
              <a:lnSpc>
                <a:spcPct val="100000"/>
              </a:lnSpc>
              <a:buNone/>
            </a:pPr>
            <a:r>
              <a:rPr lang="en-US" sz="1520" dirty="0">
                <a:solidFill>
                  <a:srgbClr val="F8FAFF"/>
                </a:solidFill>
                <a:latin typeface="Aptos" pitchFamily="34" charset="0"/>
                <a:ea typeface="Aptos" pitchFamily="34" charset="-122"/>
                <a:cs typeface="Aptos" pitchFamily="34" charset="-120"/>
              </a:rPr>
              <a:t>Students need immediate feedback on learning gaps.</a:t>
            </a:r>
            <a:endParaRPr lang="en-US" sz="1520" dirty="0"/>
          </a:p>
        </p:txBody>
      </p:sp>
      <p:sp>
        <p:nvSpPr>
          <p:cNvPr id="20" name="Shape 18"/>
          <p:cNvSpPr/>
          <p:nvPr/>
        </p:nvSpPr>
        <p:spPr>
          <a:xfrm>
            <a:off x="6025896" y="1709928"/>
            <a:ext cx="5541264" cy="4315968"/>
          </a:xfrm>
          <a:prstGeom prst="roundRect">
            <a:avLst>
              <a:gd name="adj" fmla="val 3602"/>
            </a:avLst>
          </a:prstGeom>
          <a:solidFill>
            <a:srgbClr val="141E35"/>
          </a:solidFill>
          <a:ln w="12700">
            <a:solidFill>
              <a:srgbClr val="2A3854"/>
            </a:solidFill>
            <a:prstDash val="solid"/>
          </a:ln>
        </p:spPr>
      </p:sp>
      <p:sp>
        <p:nvSpPr>
          <p:cNvPr id="21" name="Text 19"/>
          <p:cNvSpPr/>
          <p:nvPr/>
        </p:nvSpPr>
        <p:spPr>
          <a:xfrm>
            <a:off x="6281928" y="1938528"/>
            <a:ext cx="5029200" cy="292608"/>
          </a:xfrm>
          <a:prstGeom prst="rect">
            <a:avLst/>
          </a:prstGeom>
          <a:noFill/>
          <a:ln/>
        </p:spPr>
        <p:txBody>
          <a:bodyPr wrap="square" lIns="0" tIns="0" rIns="0" bIns="0" rtlCol="0" anchor="ctr"/>
          <a:lstStyle/>
          <a:p>
            <a:pPr marL="0" indent="0" algn="l">
              <a:lnSpc>
                <a:spcPct val="100000"/>
              </a:lnSpc>
              <a:buNone/>
            </a:pPr>
            <a:r>
              <a:rPr lang="en-US" sz="1300" b="1" kern="0" spc="100" dirty="0">
                <a:solidFill>
                  <a:srgbClr val="50D1C0"/>
                </a:solidFill>
                <a:latin typeface="Aptos" pitchFamily="34" charset="0"/>
                <a:ea typeface="Aptos" pitchFamily="34" charset="-122"/>
                <a:cs typeface="Aptos" pitchFamily="34" charset="-120"/>
              </a:rPr>
              <a:t>OUR OBJECTIVES</a:t>
            </a:r>
            <a:endParaRPr lang="en-US" sz="1300" dirty="0"/>
          </a:p>
        </p:txBody>
      </p:sp>
      <p:sp>
        <p:nvSpPr>
          <p:cNvPr id="22" name="Shape 20"/>
          <p:cNvSpPr/>
          <p:nvPr/>
        </p:nvSpPr>
        <p:spPr>
          <a:xfrm>
            <a:off x="6300216" y="2478024"/>
            <a:ext cx="68580" cy="68580"/>
          </a:xfrm>
          <a:prstGeom prst="rect">
            <a:avLst/>
          </a:prstGeom>
          <a:solidFill>
            <a:srgbClr val="50D1C0"/>
          </a:solidFill>
          <a:ln w="12700">
            <a:solidFill>
              <a:srgbClr val="50D1C0">
                <a:alpha val="0"/>
              </a:srgbClr>
            </a:solidFill>
            <a:prstDash val="solid"/>
          </a:ln>
        </p:spPr>
      </p:sp>
      <p:sp>
        <p:nvSpPr>
          <p:cNvPr id="23" name="Text 21"/>
          <p:cNvSpPr/>
          <p:nvPr/>
        </p:nvSpPr>
        <p:spPr>
          <a:xfrm>
            <a:off x="6501384" y="2350008"/>
            <a:ext cx="4809744" cy="530352"/>
          </a:xfrm>
          <a:prstGeom prst="rect">
            <a:avLst/>
          </a:prstGeom>
          <a:noFill/>
          <a:ln/>
        </p:spPr>
        <p:txBody>
          <a:bodyPr wrap="square" lIns="0" tIns="0" rIns="0" bIns="0" rtlCol="0" anchor="ctr">
            <a:normAutofit/>
          </a:bodyPr>
          <a:lstStyle/>
          <a:p>
            <a:pPr marL="0" indent="0" algn="l">
              <a:lnSpc>
                <a:spcPct val="100000"/>
              </a:lnSpc>
              <a:buNone/>
            </a:pPr>
            <a:r>
              <a:rPr lang="en-US" sz="1450" dirty="0">
                <a:solidFill>
                  <a:srgbClr val="F8FAFF"/>
                </a:solidFill>
                <a:latin typeface="Aptos" pitchFamily="34" charset="0"/>
                <a:ea typeface="Aptos" pitchFamily="34" charset="-122"/>
                <a:cs typeface="Aptos" pitchFamily="34" charset="-120"/>
              </a:rPr>
              <a:t>Generate personalized lessons and worked examples with AI.</a:t>
            </a:r>
            <a:endParaRPr lang="en-US" sz="1450" dirty="0"/>
          </a:p>
        </p:txBody>
      </p:sp>
      <p:sp>
        <p:nvSpPr>
          <p:cNvPr id="24" name="Shape 22"/>
          <p:cNvSpPr/>
          <p:nvPr/>
        </p:nvSpPr>
        <p:spPr>
          <a:xfrm>
            <a:off x="6300216" y="3072384"/>
            <a:ext cx="68580" cy="68580"/>
          </a:xfrm>
          <a:prstGeom prst="rect">
            <a:avLst/>
          </a:prstGeom>
          <a:solidFill>
            <a:srgbClr val="50D1C0"/>
          </a:solidFill>
          <a:ln w="12700">
            <a:solidFill>
              <a:srgbClr val="50D1C0">
                <a:alpha val="0"/>
              </a:srgbClr>
            </a:solidFill>
            <a:prstDash val="solid"/>
          </a:ln>
        </p:spPr>
      </p:sp>
      <p:sp>
        <p:nvSpPr>
          <p:cNvPr id="25" name="Text 23"/>
          <p:cNvSpPr/>
          <p:nvPr/>
        </p:nvSpPr>
        <p:spPr>
          <a:xfrm>
            <a:off x="6501384" y="2944368"/>
            <a:ext cx="4809744" cy="530352"/>
          </a:xfrm>
          <a:prstGeom prst="rect">
            <a:avLst/>
          </a:prstGeom>
          <a:noFill/>
          <a:ln/>
        </p:spPr>
        <p:txBody>
          <a:bodyPr wrap="square" lIns="0" tIns="0" rIns="0" bIns="0" rtlCol="0" anchor="ctr">
            <a:normAutofit/>
          </a:bodyPr>
          <a:lstStyle/>
          <a:p>
            <a:pPr marL="0" indent="0" algn="l">
              <a:lnSpc>
                <a:spcPct val="100000"/>
              </a:lnSpc>
              <a:buNone/>
            </a:pPr>
            <a:r>
              <a:rPr lang="en-US" sz="1450" dirty="0">
                <a:solidFill>
                  <a:srgbClr val="F8FAFF"/>
                </a:solidFill>
                <a:latin typeface="Aptos" pitchFamily="34" charset="0"/>
                <a:ea typeface="Aptos" pitchFamily="34" charset="-122"/>
                <a:cs typeface="Aptos" pitchFamily="34" charset="-120"/>
              </a:rPr>
              <a:t>Support Beginner, Intermediate and Advanced proficiency.</a:t>
            </a:r>
            <a:endParaRPr lang="en-US" sz="1450" dirty="0"/>
          </a:p>
        </p:txBody>
      </p:sp>
      <p:sp>
        <p:nvSpPr>
          <p:cNvPr id="26" name="Shape 24"/>
          <p:cNvSpPr/>
          <p:nvPr/>
        </p:nvSpPr>
        <p:spPr>
          <a:xfrm>
            <a:off x="6300216" y="3666744"/>
            <a:ext cx="68580" cy="68580"/>
          </a:xfrm>
          <a:prstGeom prst="rect">
            <a:avLst/>
          </a:prstGeom>
          <a:solidFill>
            <a:srgbClr val="50D1C0"/>
          </a:solidFill>
          <a:ln w="12700">
            <a:solidFill>
              <a:srgbClr val="50D1C0">
                <a:alpha val="0"/>
              </a:srgbClr>
            </a:solidFill>
            <a:prstDash val="solid"/>
          </a:ln>
        </p:spPr>
      </p:sp>
      <p:sp>
        <p:nvSpPr>
          <p:cNvPr id="27" name="Text 25"/>
          <p:cNvSpPr/>
          <p:nvPr/>
        </p:nvSpPr>
        <p:spPr>
          <a:xfrm>
            <a:off x="6501384" y="3538728"/>
            <a:ext cx="4809744" cy="530352"/>
          </a:xfrm>
          <a:prstGeom prst="rect">
            <a:avLst/>
          </a:prstGeom>
          <a:noFill/>
          <a:ln/>
        </p:spPr>
        <p:txBody>
          <a:bodyPr wrap="square" lIns="0" tIns="0" rIns="0" bIns="0" rtlCol="0" anchor="ctr">
            <a:normAutofit/>
          </a:bodyPr>
          <a:lstStyle/>
          <a:p>
            <a:pPr marL="0" indent="0" algn="l">
              <a:lnSpc>
                <a:spcPct val="100000"/>
              </a:lnSpc>
              <a:buNone/>
            </a:pPr>
            <a:r>
              <a:rPr lang="en-US" sz="1450" dirty="0">
                <a:solidFill>
                  <a:srgbClr val="F8FAFF"/>
                </a:solidFill>
                <a:latin typeface="Aptos" pitchFamily="34" charset="0"/>
                <a:ea typeface="Aptos" pitchFamily="34" charset="-122"/>
                <a:cs typeface="Aptos" pitchFamily="34" charset="-120"/>
              </a:rPr>
              <a:t>Assess understanding using five-question quizzes.</a:t>
            </a:r>
            <a:endParaRPr lang="en-US" sz="1450" dirty="0"/>
          </a:p>
        </p:txBody>
      </p:sp>
      <p:sp>
        <p:nvSpPr>
          <p:cNvPr id="28" name="Shape 26"/>
          <p:cNvSpPr/>
          <p:nvPr/>
        </p:nvSpPr>
        <p:spPr>
          <a:xfrm>
            <a:off x="6300216" y="4261104"/>
            <a:ext cx="68580" cy="68580"/>
          </a:xfrm>
          <a:prstGeom prst="rect">
            <a:avLst/>
          </a:prstGeom>
          <a:solidFill>
            <a:srgbClr val="50D1C0"/>
          </a:solidFill>
          <a:ln w="12700">
            <a:solidFill>
              <a:srgbClr val="50D1C0">
                <a:alpha val="0"/>
              </a:srgbClr>
            </a:solidFill>
            <a:prstDash val="solid"/>
          </a:ln>
        </p:spPr>
      </p:sp>
      <p:sp>
        <p:nvSpPr>
          <p:cNvPr id="29" name="Text 27"/>
          <p:cNvSpPr/>
          <p:nvPr/>
        </p:nvSpPr>
        <p:spPr>
          <a:xfrm>
            <a:off x="6501384" y="4133088"/>
            <a:ext cx="4809744" cy="530352"/>
          </a:xfrm>
          <a:prstGeom prst="rect">
            <a:avLst/>
          </a:prstGeom>
          <a:noFill/>
          <a:ln/>
        </p:spPr>
        <p:txBody>
          <a:bodyPr wrap="square" lIns="0" tIns="0" rIns="0" bIns="0" rtlCol="0" anchor="ctr">
            <a:normAutofit/>
          </a:bodyPr>
          <a:lstStyle/>
          <a:p>
            <a:pPr marL="0" indent="0" algn="l">
              <a:lnSpc>
                <a:spcPct val="100000"/>
              </a:lnSpc>
              <a:buNone/>
            </a:pPr>
            <a:r>
              <a:rPr lang="en-US" sz="1450" dirty="0">
                <a:solidFill>
                  <a:srgbClr val="F8FAFF"/>
                </a:solidFill>
                <a:latin typeface="Aptos" pitchFamily="34" charset="0"/>
                <a:ea typeface="Aptos" pitchFamily="34" charset="-122"/>
                <a:cs typeface="Aptos" pitchFamily="34" charset="-120"/>
              </a:rPr>
              <a:t>Recommend the next difficulty level from quiz results.</a:t>
            </a:r>
            <a:endParaRPr lang="en-US" sz="1450" dirty="0"/>
          </a:p>
        </p:txBody>
      </p:sp>
      <p:sp>
        <p:nvSpPr>
          <p:cNvPr id="30" name="Shape 28"/>
          <p:cNvSpPr/>
          <p:nvPr/>
        </p:nvSpPr>
        <p:spPr>
          <a:xfrm>
            <a:off x="6300216" y="4855464"/>
            <a:ext cx="68580" cy="68580"/>
          </a:xfrm>
          <a:prstGeom prst="rect">
            <a:avLst/>
          </a:prstGeom>
          <a:solidFill>
            <a:srgbClr val="50D1C0"/>
          </a:solidFill>
          <a:ln w="12700">
            <a:solidFill>
              <a:srgbClr val="50D1C0">
                <a:alpha val="0"/>
              </a:srgbClr>
            </a:solidFill>
            <a:prstDash val="solid"/>
          </a:ln>
        </p:spPr>
      </p:sp>
      <p:sp>
        <p:nvSpPr>
          <p:cNvPr id="31" name="Text 29"/>
          <p:cNvSpPr/>
          <p:nvPr/>
        </p:nvSpPr>
        <p:spPr>
          <a:xfrm>
            <a:off x="6501384" y="4727448"/>
            <a:ext cx="4809744" cy="530352"/>
          </a:xfrm>
          <a:prstGeom prst="rect">
            <a:avLst/>
          </a:prstGeom>
          <a:noFill/>
          <a:ln/>
        </p:spPr>
        <p:txBody>
          <a:bodyPr wrap="square" lIns="0" tIns="0" rIns="0" bIns="0" rtlCol="0" anchor="ctr">
            <a:normAutofit/>
          </a:bodyPr>
          <a:lstStyle/>
          <a:p>
            <a:pPr marL="0" indent="0" algn="l">
              <a:lnSpc>
                <a:spcPct val="100000"/>
              </a:lnSpc>
              <a:buNone/>
            </a:pPr>
            <a:r>
              <a:rPr lang="en-US" sz="1450" dirty="0">
                <a:solidFill>
                  <a:srgbClr val="F8FAFF"/>
                </a:solidFill>
                <a:latin typeface="Aptos" pitchFamily="34" charset="0"/>
                <a:ea typeface="Aptos" pitchFamily="34" charset="-122"/>
                <a:cs typeface="Aptos" pitchFamily="34" charset="-120"/>
              </a:rPr>
              <a:t>Show progress within the current learning session.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02 / TECH STACK</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A simple, practical AI application</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We used existing generative AI rather than training a model from scratch</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03 / 07</a:t>
            </a:r>
            <a:endParaRPr lang="en-US" sz="1020" dirty="0"/>
          </a:p>
        </p:txBody>
      </p:sp>
      <p:sp>
        <p:nvSpPr>
          <p:cNvPr id="10" name="Shape 8"/>
          <p:cNvSpPr/>
          <p:nvPr/>
        </p:nvSpPr>
        <p:spPr>
          <a:xfrm>
            <a:off x="621792" y="1783080"/>
            <a:ext cx="3675888" cy="1426464"/>
          </a:xfrm>
          <a:prstGeom prst="roundRect">
            <a:avLst>
              <a:gd name="adj" fmla="val 10897"/>
            </a:avLst>
          </a:prstGeom>
          <a:solidFill>
            <a:srgbClr val="141E35"/>
          </a:solidFill>
          <a:ln w="12700">
            <a:solidFill>
              <a:srgbClr val="2A3854"/>
            </a:solidFill>
            <a:prstDash val="solid"/>
          </a:ln>
        </p:spPr>
      </p:sp>
      <p:sp>
        <p:nvSpPr>
          <p:cNvPr id="11" name="Shape 9"/>
          <p:cNvSpPr/>
          <p:nvPr/>
        </p:nvSpPr>
        <p:spPr>
          <a:xfrm>
            <a:off x="786384" y="1965960"/>
            <a:ext cx="411480" cy="411480"/>
          </a:xfrm>
          <a:prstGeom prst="roundRect">
            <a:avLst>
              <a:gd name="adj" fmla="val 37778"/>
            </a:avLst>
          </a:prstGeom>
          <a:solidFill>
            <a:srgbClr val="192541"/>
          </a:solidFill>
          <a:ln w="12700">
            <a:solidFill>
              <a:srgbClr val="192541">
                <a:alpha val="0"/>
              </a:srgbClr>
            </a:solidFill>
            <a:prstDash val="solid"/>
          </a:ln>
        </p:spPr>
      </p:sp>
      <p:sp>
        <p:nvSpPr>
          <p:cNvPr id="12" name="Text 10"/>
          <p:cNvSpPr/>
          <p:nvPr/>
        </p:nvSpPr>
        <p:spPr>
          <a:xfrm>
            <a:off x="786384" y="2043684"/>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7667F4"/>
                </a:solidFill>
                <a:latin typeface="Aptos" pitchFamily="34" charset="0"/>
                <a:ea typeface="Aptos" pitchFamily="34" charset="-122"/>
                <a:cs typeface="Aptos" pitchFamily="34" charset="-120"/>
              </a:rPr>
              <a:t>01</a:t>
            </a:r>
            <a:endParaRPr lang="en-US" sz="1100" dirty="0"/>
          </a:p>
        </p:txBody>
      </p:sp>
      <p:sp>
        <p:nvSpPr>
          <p:cNvPr id="13" name="Text 11"/>
          <p:cNvSpPr/>
          <p:nvPr/>
        </p:nvSpPr>
        <p:spPr>
          <a:xfrm>
            <a:off x="1353312" y="1947672"/>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Python</a:t>
            </a:r>
            <a:endParaRPr lang="en-US" sz="1900" dirty="0"/>
          </a:p>
        </p:txBody>
      </p:sp>
      <p:sp>
        <p:nvSpPr>
          <p:cNvPr id="14" name="Text 12"/>
          <p:cNvSpPr/>
          <p:nvPr/>
        </p:nvSpPr>
        <p:spPr>
          <a:xfrm>
            <a:off x="1353312" y="2386584"/>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Application logic and quiz scoring</a:t>
            </a:r>
            <a:endParaRPr lang="en-US" sz="1320" dirty="0"/>
          </a:p>
        </p:txBody>
      </p:sp>
      <p:sp>
        <p:nvSpPr>
          <p:cNvPr id="15" name="Shape 13"/>
          <p:cNvSpPr/>
          <p:nvPr/>
        </p:nvSpPr>
        <p:spPr>
          <a:xfrm>
            <a:off x="4535424" y="1783080"/>
            <a:ext cx="3675888" cy="1426464"/>
          </a:xfrm>
          <a:prstGeom prst="roundRect">
            <a:avLst>
              <a:gd name="adj" fmla="val 10897"/>
            </a:avLst>
          </a:prstGeom>
          <a:solidFill>
            <a:srgbClr val="141E35"/>
          </a:solidFill>
          <a:ln w="12700">
            <a:solidFill>
              <a:srgbClr val="2A3854"/>
            </a:solidFill>
            <a:prstDash val="solid"/>
          </a:ln>
        </p:spPr>
      </p:sp>
      <p:sp>
        <p:nvSpPr>
          <p:cNvPr id="16" name="Shape 14"/>
          <p:cNvSpPr/>
          <p:nvPr/>
        </p:nvSpPr>
        <p:spPr>
          <a:xfrm>
            <a:off x="4700016" y="1965960"/>
            <a:ext cx="411480" cy="411480"/>
          </a:xfrm>
          <a:prstGeom prst="roundRect">
            <a:avLst>
              <a:gd name="adj" fmla="val 37778"/>
            </a:avLst>
          </a:prstGeom>
          <a:solidFill>
            <a:srgbClr val="192541"/>
          </a:solidFill>
          <a:ln w="12700">
            <a:solidFill>
              <a:srgbClr val="192541">
                <a:alpha val="0"/>
              </a:srgbClr>
            </a:solidFill>
            <a:prstDash val="solid"/>
          </a:ln>
        </p:spPr>
      </p:sp>
      <p:sp>
        <p:nvSpPr>
          <p:cNvPr id="17" name="Text 15"/>
          <p:cNvSpPr/>
          <p:nvPr/>
        </p:nvSpPr>
        <p:spPr>
          <a:xfrm>
            <a:off x="4700016" y="2043684"/>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50D1C0"/>
                </a:solidFill>
                <a:latin typeface="Aptos" pitchFamily="34" charset="0"/>
                <a:ea typeface="Aptos" pitchFamily="34" charset="-122"/>
                <a:cs typeface="Aptos" pitchFamily="34" charset="-120"/>
              </a:rPr>
              <a:t>02</a:t>
            </a:r>
            <a:endParaRPr lang="en-US" sz="1100" dirty="0"/>
          </a:p>
        </p:txBody>
      </p:sp>
      <p:sp>
        <p:nvSpPr>
          <p:cNvPr id="18" name="Text 16"/>
          <p:cNvSpPr/>
          <p:nvPr/>
        </p:nvSpPr>
        <p:spPr>
          <a:xfrm>
            <a:off x="5266944" y="1947672"/>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Streamlit</a:t>
            </a:r>
            <a:endParaRPr lang="en-US" sz="1900" dirty="0"/>
          </a:p>
        </p:txBody>
      </p:sp>
      <p:sp>
        <p:nvSpPr>
          <p:cNvPr id="19" name="Text 17"/>
          <p:cNvSpPr/>
          <p:nvPr/>
        </p:nvSpPr>
        <p:spPr>
          <a:xfrm>
            <a:off x="5266944" y="2386584"/>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Web UI, forms, tabs, session state</a:t>
            </a:r>
            <a:endParaRPr lang="en-US" sz="1320" dirty="0"/>
          </a:p>
        </p:txBody>
      </p:sp>
      <p:sp>
        <p:nvSpPr>
          <p:cNvPr id="20" name="Shape 18"/>
          <p:cNvSpPr/>
          <p:nvPr/>
        </p:nvSpPr>
        <p:spPr>
          <a:xfrm>
            <a:off x="8449056" y="1783080"/>
            <a:ext cx="3675888" cy="1426464"/>
          </a:xfrm>
          <a:prstGeom prst="roundRect">
            <a:avLst>
              <a:gd name="adj" fmla="val 10897"/>
            </a:avLst>
          </a:prstGeom>
          <a:solidFill>
            <a:srgbClr val="141E35"/>
          </a:solidFill>
          <a:ln w="12700">
            <a:solidFill>
              <a:srgbClr val="2A3854"/>
            </a:solidFill>
            <a:prstDash val="solid"/>
          </a:ln>
        </p:spPr>
      </p:sp>
      <p:sp>
        <p:nvSpPr>
          <p:cNvPr id="21" name="Shape 19"/>
          <p:cNvSpPr/>
          <p:nvPr/>
        </p:nvSpPr>
        <p:spPr>
          <a:xfrm>
            <a:off x="8613648" y="1965960"/>
            <a:ext cx="411480" cy="411480"/>
          </a:xfrm>
          <a:prstGeom prst="roundRect">
            <a:avLst>
              <a:gd name="adj" fmla="val 37778"/>
            </a:avLst>
          </a:prstGeom>
          <a:solidFill>
            <a:srgbClr val="192541"/>
          </a:solidFill>
          <a:ln w="12700">
            <a:solidFill>
              <a:srgbClr val="192541">
                <a:alpha val="0"/>
              </a:srgbClr>
            </a:solidFill>
            <a:prstDash val="solid"/>
          </a:ln>
        </p:spPr>
      </p:sp>
      <p:sp>
        <p:nvSpPr>
          <p:cNvPr id="22" name="Text 20"/>
          <p:cNvSpPr/>
          <p:nvPr/>
        </p:nvSpPr>
        <p:spPr>
          <a:xfrm>
            <a:off x="8613648" y="2043684"/>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F7BD64"/>
                </a:solidFill>
                <a:latin typeface="Aptos" pitchFamily="34" charset="0"/>
                <a:ea typeface="Aptos" pitchFamily="34" charset="-122"/>
                <a:cs typeface="Aptos" pitchFamily="34" charset="-120"/>
              </a:rPr>
              <a:t>03</a:t>
            </a:r>
            <a:endParaRPr lang="en-US" sz="1100" dirty="0"/>
          </a:p>
        </p:txBody>
      </p:sp>
      <p:sp>
        <p:nvSpPr>
          <p:cNvPr id="23" name="Text 21"/>
          <p:cNvSpPr/>
          <p:nvPr/>
        </p:nvSpPr>
        <p:spPr>
          <a:xfrm>
            <a:off x="9180576" y="1947672"/>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Gemini API</a:t>
            </a:r>
            <a:endParaRPr lang="en-US" sz="1900" dirty="0"/>
          </a:p>
        </p:txBody>
      </p:sp>
      <p:sp>
        <p:nvSpPr>
          <p:cNvPr id="24" name="Text 22"/>
          <p:cNvSpPr/>
          <p:nvPr/>
        </p:nvSpPr>
        <p:spPr>
          <a:xfrm>
            <a:off x="9180576" y="2386584"/>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Generates lessons and quiz content</a:t>
            </a:r>
            <a:endParaRPr lang="en-US" sz="1320" dirty="0"/>
          </a:p>
        </p:txBody>
      </p:sp>
      <p:sp>
        <p:nvSpPr>
          <p:cNvPr id="25" name="Shape 23"/>
          <p:cNvSpPr/>
          <p:nvPr/>
        </p:nvSpPr>
        <p:spPr>
          <a:xfrm>
            <a:off x="621792" y="3456432"/>
            <a:ext cx="3675888" cy="1426464"/>
          </a:xfrm>
          <a:prstGeom prst="roundRect">
            <a:avLst>
              <a:gd name="adj" fmla="val 10897"/>
            </a:avLst>
          </a:prstGeom>
          <a:solidFill>
            <a:srgbClr val="141E35"/>
          </a:solidFill>
          <a:ln w="12700">
            <a:solidFill>
              <a:srgbClr val="2A3854"/>
            </a:solidFill>
            <a:prstDash val="solid"/>
          </a:ln>
        </p:spPr>
      </p:sp>
      <p:sp>
        <p:nvSpPr>
          <p:cNvPr id="26" name="Shape 24"/>
          <p:cNvSpPr/>
          <p:nvPr/>
        </p:nvSpPr>
        <p:spPr>
          <a:xfrm>
            <a:off x="786384" y="3639312"/>
            <a:ext cx="411480" cy="411480"/>
          </a:xfrm>
          <a:prstGeom prst="roundRect">
            <a:avLst>
              <a:gd name="adj" fmla="val 37778"/>
            </a:avLst>
          </a:prstGeom>
          <a:solidFill>
            <a:srgbClr val="192541"/>
          </a:solidFill>
          <a:ln w="12700">
            <a:solidFill>
              <a:srgbClr val="192541">
                <a:alpha val="0"/>
              </a:srgbClr>
            </a:solidFill>
            <a:prstDash val="solid"/>
          </a:ln>
        </p:spPr>
      </p:sp>
      <p:sp>
        <p:nvSpPr>
          <p:cNvPr id="27" name="Text 25"/>
          <p:cNvSpPr/>
          <p:nvPr/>
        </p:nvSpPr>
        <p:spPr>
          <a:xfrm>
            <a:off x="786384" y="3717036"/>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7667F4"/>
                </a:solidFill>
                <a:latin typeface="Aptos" pitchFamily="34" charset="0"/>
                <a:ea typeface="Aptos" pitchFamily="34" charset="-122"/>
                <a:cs typeface="Aptos" pitchFamily="34" charset="-120"/>
              </a:rPr>
              <a:t>04</a:t>
            </a:r>
            <a:endParaRPr lang="en-US" sz="1100" dirty="0"/>
          </a:p>
        </p:txBody>
      </p:sp>
      <p:sp>
        <p:nvSpPr>
          <p:cNvPr id="28" name="Text 26"/>
          <p:cNvSpPr/>
          <p:nvPr/>
        </p:nvSpPr>
        <p:spPr>
          <a:xfrm>
            <a:off x="1353312" y="3621024"/>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Pydantic</a:t>
            </a:r>
            <a:endParaRPr lang="en-US" sz="1900" dirty="0"/>
          </a:p>
        </p:txBody>
      </p:sp>
      <p:sp>
        <p:nvSpPr>
          <p:cNvPr id="29" name="Text 27"/>
          <p:cNvSpPr/>
          <p:nvPr/>
        </p:nvSpPr>
        <p:spPr>
          <a:xfrm>
            <a:off x="1353312" y="4059936"/>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Validates structured JSON responses</a:t>
            </a:r>
            <a:endParaRPr lang="en-US" sz="1320" dirty="0"/>
          </a:p>
        </p:txBody>
      </p:sp>
      <p:sp>
        <p:nvSpPr>
          <p:cNvPr id="30" name="Shape 28"/>
          <p:cNvSpPr/>
          <p:nvPr/>
        </p:nvSpPr>
        <p:spPr>
          <a:xfrm>
            <a:off x="4535424" y="3456432"/>
            <a:ext cx="3675888" cy="1426464"/>
          </a:xfrm>
          <a:prstGeom prst="roundRect">
            <a:avLst>
              <a:gd name="adj" fmla="val 10897"/>
            </a:avLst>
          </a:prstGeom>
          <a:solidFill>
            <a:srgbClr val="141E35"/>
          </a:solidFill>
          <a:ln w="12700">
            <a:solidFill>
              <a:srgbClr val="2A3854"/>
            </a:solidFill>
            <a:prstDash val="solid"/>
          </a:ln>
        </p:spPr>
      </p:sp>
      <p:sp>
        <p:nvSpPr>
          <p:cNvPr id="31" name="Shape 29"/>
          <p:cNvSpPr/>
          <p:nvPr/>
        </p:nvSpPr>
        <p:spPr>
          <a:xfrm>
            <a:off x="4700016" y="3639312"/>
            <a:ext cx="411480" cy="411480"/>
          </a:xfrm>
          <a:prstGeom prst="roundRect">
            <a:avLst>
              <a:gd name="adj" fmla="val 37778"/>
            </a:avLst>
          </a:prstGeom>
          <a:solidFill>
            <a:srgbClr val="192541"/>
          </a:solidFill>
          <a:ln w="12700">
            <a:solidFill>
              <a:srgbClr val="192541">
                <a:alpha val="0"/>
              </a:srgbClr>
            </a:solidFill>
            <a:prstDash val="solid"/>
          </a:ln>
        </p:spPr>
      </p:sp>
      <p:sp>
        <p:nvSpPr>
          <p:cNvPr id="32" name="Text 30"/>
          <p:cNvSpPr/>
          <p:nvPr/>
        </p:nvSpPr>
        <p:spPr>
          <a:xfrm>
            <a:off x="4700016" y="3717036"/>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50D1C0"/>
                </a:solidFill>
                <a:latin typeface="Aptos" pitchFamily="34" charset="0"/>
                <a:ea typeface="Aptos" pitchFamily="34" charset="-122"/>
                <a:cs typeface="Aptos" pitchFamily="34" charset="-120"/>
              </a:rPr>
              <a:t>05</a:t>
            </a:r>
            <a:endParaRPr lang="en-US" sz="1100" dirty="0"/>
          </a:p>
        </p:txBody>
      </p:sp>
      <p:sp>
        <p:nvSpPr>
          <p:cNvPr id="33" name="Text 31"/>
          <p:cNvSpPr/>
          <p:nvPr/>
        </p:nvSpPr>
        <p:spPr>
          <a:xfrm>
            <a:off x="5266944" y="3621024"/>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Prompt engineering</a:t>
            </a:r>
            <a:endParaRPr lang="en-US" sz="1900" dirty="0"/>
          </a:p>
        </p:txBody>
      </p:sp>
      <p:sp>
        <p:nvSpPr>
          <p:cNvPr id="34" name="Text 32"/>
          <p:cNvSpPr/>
          <p:nvPr/>
        </p:nvSpPr>
        <p:spPr>
          <a:xfrm>
            <a:off x="5266944" y="4059936"/>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Adjusts content to learning level</a:t>
            </a:r>
            <a:endParaRPr lang="en-US" sz="1320" dirty="0"/>
          </a:p>
        </p:txBody>
      </p:sp>
      <p:sp>
        <p:nvSpPr>
          <p:cNvPr id="35" name="Shape 33"/>
          <p:cNvSpPr/>
          <p:nvPr/>
        </p:nvSpPr>
        <p:spPr>
          <a:xfrm>
            <a:off x="8449056" y="3456432"/>
            <a:ext cx="3675888" cy="1426464"/>
          </a:xfrm>
          <a:prstGeom prst="roundRect">
            <a:avLst>
              <a:gd name="adj" fmla="val 10897"/>
            </a:avLst>
          </a:prstGeom>
          <a:solidFill>
            <a:srgbClr val="141E35"/>
          </a:solidFill>
          <a:ln w="12700">
            <a:solidFill>
              <a:srgbClr val="2A3854"/>
            </a:solidFill>
            <a:prstDash val="solid"/>
          </a:ln>
        </p:spPr>
      </p:sp>
      <p:sp>
        <p:nvSpPr>
          <p:cNvPr id="36" name="Shape 34"/>
          <p:cNvSpPr/>
          <p:nvPr/>
        </p:nvSpPr>
        <p:spPr>
          <a:xfrm>
            <a:off x="8613648" y="3639312"/>
            <a:ext cx="411480" cy="411480"/>
          </a:xfrm>
          <a:prstGeom prst="roundRect">
            <a:avLst>
              <a:gd name="adj" fmla="val 37778"/>
            </a:avLst>
          </a:prstGeom>
          <a:solidFill>
            <a:srgbClr val="192541"/>
          </a:solidFill>
          <a:ln w="12700">
            <a:solidFill>
              <a:srgbClr val="192541">
                <a:alpha val="0"/>
              </a:srgbClr>
            </a:solidFill>
            <a:prstDash val="solid"/>
          </a:ln>
        </p:spPr>
      </p:sp>
      <p:sp>
        <p:nvSpPr>
          <p:cNvPr id="37" name="Text 35"/>
          <p:cNvSpPr/>
          <p:nvPr/>
        </p:nvSpPr>
        <p:spPr>
          <a:xfrm>
            <a:off x="8613648" y="3717036"/>
            <a:ext cx="411480" cy="182880"/>
          </a:xfrm>
          <a:prstGeom prst="rect">
            <a:avLst/>
          </a:prstGeom>
          <a:noFill/>
          <a:ln/>
        </p:spPr>
        <p:txBody>
          <a:bodyPr wrap="square" lIns="0" tIns="0" rIns="0" bIns="0" rtlCol="0" anchor="ctr"/>
          <a:lstStyle/>
          <a:p>
            <a:pPr marL="0" indent="0" algn="ctr">
              <a:lnSpc>
                <a:spcPct val="100000"/>
              </a:lnSpc>
              <a:buNone/>
            </a:pPr>
            <a:r>
              <a:rPr lang="en-US" sz="1100" b="1" dirty="0">
                <a:solidFill>
                  <a:srgbClr val="F7BD64"/>
                </a:solidFill>
                <a:latin typeface="Aptos" pitchFamily="34" charset="0"/>
                <a:ea typeface="Aptos" pitchFamily="34" charset="-122"/>
                <a:cs typeface="Aptos" pitchFamily="34" charset="-120"/>
              </a:rPr>
              <a:t>06</a:t>
            </a:r>
            <a:endParaRPr lang="en-US" sz="1100" dirty="0"/>
          </a:p>
        </p:txBody>
      </p:sp>
      <p:sp>
        <p:nvSpPr>
          <p:cNvPr id="38" name="Text 36"/>
          <p:cNvSpPr/>
          <p:nvPr/>
        </p:nvSpPr>
        <p:spPr>
          <a:xfrm>
            <a:off x="9180576" y="3621024"/>
            <a:ext cx="2743200" cy="338328"/>
          </a:xfrm>
          <a:prstGeom prst="rect">
            <a:avLst/>
          </a:prstGeom>
          <a:noFill/>
          <a:ln/>
        </p:spPr>
        <p:txBody>
          <a:bodyPr wrap="square" lIns="0" tIns="0" rIns="0" bIns="0" rtlCol="0" anchor="ctr"/>
          <a:lstStyle/>
          <a:p>
            <a:pPr marL="0" indent="0" algn="l">
              <a:lnSpc>
                <a:spcPct val="100000"/>
              </a:lnSpc>
              <a:buNone/>
            </a:pPr>
            <a:r>
              <a:rPr lang="en-US" sz="1900" b="1" dirty="0">
                <a:solidFill>
                  <a:srgbClr val="F8FAFF"/>
                </a:solidFill>
                <a:latin typeface="Aptos" pitchFamily="34" charset="0"/>
                <a:ea typeface="Aptos" pitchFamily="34" charset="-122"/>
                <a:cs typeface="Aptos" pitchFamily="34" charset="-120"/>
              </a:rPr>
              <a:t>python-dotenv</a:t>
            </a:r>
            <a:endParaRPr lang="en-US" sz="1900" dirty="0"/>
          </a:p>
        </p:txBody>
      </p:sp>
      <p:sp>
        <p:nvSpPr>
          <p:cNvPr id="39" name="Text 37"/>
          <p:cNvSpPr/>
          <p:nvPr/>
        </p:nvSpPr>
        <p:spPr>
          <a:xfrm>
            <a:off x="9180576" y="4059936"/>
            <a:ext cx="2743200" cy="530352"/>
          </a:xfrm>
          <a:prstGeom prst="rect">
            <a:avLst/>
          </a:prstGeom>
          <a:noFill/>
          <a:ln/>
        </p:spPr>
        <p:txBody>
          <a:bodyPr wrap="square" lIns="0" tIns="0" rIns="0" bIns="0" rtlCol="0" anchor="ctr">
            <a:normAutofit/>
          </a:bodyPr>
          <a:lstStyle/>
          <a:p>
            <a:pPr marL="0" indent="0" algn="l">
              <a:lnSpc>
                <a:spcPct val="100000"/>
              </a:lnSpc>
              <a:buNone/>
            </a:pPr>
            <a:r>
              <a:rPr lang="en-US" sz="1320" dirty="0">
                <a:solidFill>
                  <a:srgbClr val="B4C0D8"/>
                </a:solidFill>
                <a:latin typeface="Aptos" pitchFamily="34" charset="0"/>
                <a:ea typeface="Aptos" pitchFamily="34" charset="-122"/>
                <a:cs typeface="Aptos" pitchFamily="34" charset="-120"/>
              </a:rPr>
              <a:t>Loads local environment configuration</a:t>
            </a:r>
            <a:endParaRPr lang="en-US" sz="1320" dirty="0"/>
          </a:p>
        </p:txBody>
      </p:sp>
      <p:sp>
        <p:nvSpPr>
          <p:cNvPr id="40" name="Shape 38"/>
          <p:cNvSpPr/>
          <p:nvPr/>
        </p:nvSpPr>
        <p:spPr>
          <a:xfrm>
            <a:off x="621792" y="5340096"/>
            <a:ext cx="10963656" cy="594360"/>
          </a:xfrm>
          <a:prstGeom prst="roundRect">
            <a:avLst>
              <a:gd name="adj" fmla="val 26154"/>
            </a:avLst>
          </a:prstGeom>
          <a:solidFill>
            <a:srgbClr val="192541"/>
          </a:solidFill>
          <a:ln w="12700">
            <a:solidFill>
              <a:srgbClr val="192541">
                <a:alpha val="0"/>
              </a:srgbClr>
            </a:solidFill>
            <a:prstDash val="solid"/>
          </a:ln>
        </p:spPr>
      </p:sp>
      <p:sp>
        <p:nvSpPr>
          <p:cNvPr id="41" name="Text 39"/>
          <p:cNvSpPr/>
          <p:nvPr/>
        </p:nvSpPr>
        <p:spPr>
          <a:xfrm>
            <a:off x="813816" y="5477256"/>
            <a:ext cx="10570464" cy="283464"/>
          </a:xfrm>
          <a:prstGeom prst="rect">
            <a:avLst/>
          </a:prstGeom>
          <a:noFill/>
          <a:ln/>
        </p:spPr>
        <p:txBody>
          <a:bodyPr wrap="square" lIns="0" tIns="0" rIns="0" bIns="0" rtlCol="0" anchor="ctr"/>
          <a:lstStyle/>
          <a:p>
            <a:pPr marL="0" indent="0" algn="ctr">
              <a:lnSpc>
                <a:spcPct val="100000"/>
              </a:lnSpc>
              <a:buNone/>
            </a:pPr>
            <a:r>
              <a:rPr lang="en-US" sz="1400" b="1" dirty="0">
                <a:solidFill>
                  <a:srgbClr val="F8FAFF"/>
                </a:solidFill>
                <a:latin typeface="Aptos" pitchFamily="34" charset="0"/>
                <a:ea typeface="Aptos" pitchFamily="34" charset="-122"/>
                <a:cs typeface="Aptos" pitchFamily="34" charset="-120"/>
              </a:rPr>
              <a:t>Student input   →   Streamlit + Python   →   Gemini API   →   Lesson + Quiz   →   Adaptive Engine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03 / ARCHITECTURE</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From learning preferences to adaptive practice</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Six steps connect generative AI with performance-based assessment</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04 / 07</a:t>
            </a:r>
            <a:endParaRPr lang="en-US" sz="1020" dirty="0"/>
          </a:p>
        </p:txBody>
      </p:sp>
      <p:sp>
        <p:nvSpPr>
          <p:cNvPr id="10" name="Shape 8"/>
          <p:cNvSpPr/>
          <p:nvPr/>
        </p:nvSpPr>
        <p:spPr>
          <a:xfrm>
            <a:off x="630936" y="1874520"/>
            <a:ext cx="3172968" cy="1353312"/>
          </a:xfrm>
          <a:prstGeom prst="roundRect">
            <a:avLst>
              <a:gd name="adj" fmla="val 11486"/>
            </a:avLst>
          </a:prstGeom>
          <a:solidFill>
            <a:srgbClr val="141E35"/>
          </a:solidFill>
          <a:ln w="12700">
            <a:solidFill>
              <a:srgbClr val="2A3854"/>
            </a:solidFill>
            <a:prstDash val="solid"/>
          </a:ln>
        </p:spPr>
      </p:sp>
      <p:sp>
        <p:nvSpPr>
          <p:cNvPr id="11" name="Shape 9"/>
          <p:cNvSpPr/>
          <p:nvPr/>
        </p:nvSpPr>
        <p:spPr>
          <a:xfrm>
            <a:off x="795528" y="2029968"/>
            <a:ext cx="448056" cy="329184"/>
          </a:xfrm>
          <a:prstGeom prst="roundRect">
            <a:avLst>
              <a:gd name="adj" fmla="val 47222"/>
            </a:avLst>
          </a:prstGeom>
          <a:solidFill>
            <a:srgbClr val="192541"/>
          </a:solidFill>
          <a:ln w="12700">
            <a:solidFill>
              <a:srgbClr val="192541">
                <a:alpha val="0"/>
              </a:srgbClr>
            </a:solidFill>
            <a:prstDash val="solid"/>
          </a:ln>
        </p:spPr>
      </p:sp>
      <p:sp>
        <p:nvSpPr>
          <p:cNvPr id="12" name="Text 10"/>
          <p:cNvSpPr/>
          <p:nvPr/>
        </p:nvSpPr>
        <p:spPr>
          <a:xfrm>
            <a:off x="905256" y="2066544"/>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01</a:t>
            </a:r>
            <a:endParaRPr lang="en-US" sz="1010" dirty="0"/>
          </a:p>
        </p:txBody>
      </p:sp>
      <p:sp>
        <p:nvSpPr>
          <p:cNvPr id="13" name="Text 11"/>
          <p:cNvSpPr/>
          <p:nvPr/>
        </p:nvSpPr>
        <p:spPr>
          <a:xfrm>
            <a:off x="1353312" y="2011680"/>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STUDENT INPUT</a:t>
            </a:r>
            <a:endParaRPr lang="en-US" sz="1540" dirty="0"/>
          </a:p>
        </p:txBody>
      </p:sp>
      <p:sp>
        <p:nvSpPr>
          <p:cNvPr id="14" name="Text 12"/>
          <p:cNvSpPr/>
          <p:nvPr/>
        </p:nvSpPr>
        <p:spPr>
          <a:xfrm>
            <a:off x="822960" y="2496312"/>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Topic, level, language, explanation style</a:t>
            </a:r>
            <a:endParaRPr lang="en-US" sz="1240" dirty="0"/>
          </a:p>
        </p:txBody>
      </p:sp>
      <p:sp>
        <p:nvSpPr>
          <p:cNvPr id="15" name="Shape 13"/>
          <p:cNvSpPr/>
          <p:nvPr/>
        </p:nvSpPr>
        <p:spPr>
          <a:xfrm>
            <a:off x="4526280" y="1874520"/>
            <a:ext cx="3172968" cy="1353312"/>
          </a:xfrm>
          <a:prstGeom prst="roundRect">
            <a:avLst>
              <a:gd name="adj" fmla="val 11486"/>
            </a:avLst>
          </a:prstGeom>
          <a:solidFill>
            <a:srgbClr val="141E35"/>
          </a:solidFill>
          <a:ln w="12700">
            <a:solidFill>
              <a:srgbClr val="2A3854"/>
            </a:solidFill>
            <a:prstDash val="solid"/>
          </a:ln>
        </p:spPr>
      </p:sp>
      <p:sp>
        <p:nvSpPr>
          <p:cNvPr id="16" name="Shape 14"/>
          <p:cNvSpPr/>
          <p:nvPr/>
        </p:nvSpPr>
        <p:spPr>
          <a:xfrm>
            <a:off x="4690872" y="2029968"/>
            <a:ext cx="448056" cy="329184"/>
          </a:xfrm>
          <a:prstGeom prst="roundRect">
            <a:avLst>
              <a:gd name="adj" fmla="val 47222"/>
            </a:avLst>
          </a:prstGeom>
          <a:solidFill>
            <a:srgbClr val="192541"/>
          </a:solidFill>
          <a:ln w="12700">
            <a:solidFill>
              <a:srgbClr val="192541">
                <a:alpha val="0"/>
              </a:srgbClr>
            </a:solidFill>
            <a:prstDash val="solid"/>
          </a:ln>
        </p:spPr>
      </p:sp>
      <p:sp>
        <p:nvSpPr>
          <p:cNvPr id="17" name="Text 15"/>
          <p:cNvSpPr/>
          <p:nvPr/>
        </p:nvSpPr>
        <p:spPr>
          <a:xfrm>
            <a:off x="4800600" y="2066544"/>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02</a:t>
            </a:r>
            <a:endParaRPr lang="en-US" sz="1010" dirty="0"/>
          </a:p>
        </p:txBody>
      </p:sp>
      <p:sp>
        <p:nvSpPr>
          <p:cNvPr id="18" name="Text 16"/>
          <p:cNvSpPr/>
          <p:nvPr/>
        </p:nvSpPr>
        <p:spPr>
          <a:xfrm>
            <a:off x="5248656" y="2011680"/>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BUILD PROMPT</a:t>
            </a:r>
            <a:endParaRPr lang="en-US" sz="1540" dirty="0"/>
          </a:p>
        </p:txBody>
      </p:sp>
      <p:sp>
        <p:nvSpPr>
          <p:cNvPr id="19" name="Text 17"/>
          <p:cNvSpPr/>
          <p:nvPr/>
        </p:nvSpPr>
        <p:spPr>
          <a:xfrm>
            <a:off x="4718304" y="2496312"/>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Python creates level-specific AI instructions</a:t>
            </a:r>
            <a:endParaRPr lang="en-US" sz="1240" dirty="0"/>
          </a:p>
        </p:txBody>
      </p:sp>
      <p:sp>
        <p:nvSpPr>
          <p:cNvPr id="20" name="Shape 18"/>
          <p:cNvSpPr/>
          <p:nvPr/>
        </p:nvSpPr>
        <p:spPr>
          <a:xfrm>
            <a:off x="8421624" y="1874520"/>
            <a:ext cx="3172968" cy="1353312"/>
          </a:xfrm>
          <a:prstGeom prst="roundRect">
            <a:avLst>
              <a:gd name="adj" fmla="val 11486"/>
            </a:avLst>
          </a:prstGeom>
          <a:solidFill>
            <a:srgbClr val="141E35"/>
          </a:solidFill>
          <a:ln w="12700">
            <a:solidFill>
              <a:srgbClr val="2A3854"/>
            </a:solidFill>
            <a:prstDash val="solid"/>
          </a:ln>
        </p:spPr>
      </p:sp>
      <p:sp>
        <p:nvSpPr>
          <p:cNvPr id="21" name="Shape 19"/>
          <p:cNvSpPr/>
          <p:nvPr/>
        </p:nvSpPr>
        <p:spPr>
          <a:xfrm>
            <a:off x="8586216" y="2029968"/>
            <a:ext cx="448056" cy="329184"/>
          </a:xfrm>
          <a:prstGeom prst="roundRect">
            <a:avLst>
              <a:gd name="adj" fmla="val 47222"/>
            </a:avLst>
          </a:prstGeom>
          <a:solidFill>
            <a:srgbClr val="192541"/>
          </a:solidFill>
          <a:ln w="12700">
            <a:solidFill>
              <a:srgbClr val="192541">
                <a:alpha val="0"/>
              </a:srgbClr>
            </a:solidFill>
            <a:prstDash val="solid"/>
          </a:ln>
        </p:spPr>
      </p:sp>
      <p:sp>
        <p:nvSpPr>
          <p:cNvPr id="22" name="Text 20"/>
          <p:cNvSpPr/>
          <p:nvPr/>
        </p:nvSpPr>
        <p:spPr>
          <a:xfrm>
            <a:off x="8695944" y="2066544"/>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03</a:t>
            </a:r>
            <a:endParaRPr lang="en-US" sz="1010" dirty="0"/>
          </a:p>
        </p:txBody>
      </p:sp>
      <p:sp>
        <p:nvSpPr>
          <p:cNvPr id="23" name="Text 21"/>
          <p:cNvSpPr/>
          <p:nvPr/>
        </p:nvSpPr>
        <p:spPr>
          <a:xfrm>
            <a:off x="9144000" y="2011680"/>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GEMINI API</a:t>
            </a:r>
            <a:endParaRPr lang="en-US" sz="1540" dirty="0"/>
          </a:p>
        </p:txBody>
      </p:sp>
      <p:sp>
        <p:nvSpPr>
          <p:cNvPr id="24" name="Text 22"/>
          <p:cNvSpPr/>
          <p:nvPr/>
        </p:nvSpPr>
        <p:spPr>
          <a:xfrm>
            <a:off x="8613648" y="2496312"/>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Generate lesson and five MCQs</a:t>
            </a:r>
            <a:endParaRPr lang="en-US" sz="1240" dirty="0"/>
          </a:p>
        </p:txBody>
      </p:sp>
      <p:sp>
        <p:nvSpPr>
          <p:cNvPr id="25" name="Shape 23"/>
          <p:cNvSpPr/>
          <p:nvPr/>
        </p:nvSpPr>
        <p:spPr>
          <a:xfrm>
            <a:off x="8421624" y="4041648"/>
            <a:ext cx="3172968" cy="1353312"/>
          </a:xfrm>
          <a:prstGeom prst="roundRect">
            <a:avLst>
              <a:gd name="adj" fmla="val 11486"/>
            </a:avLst>
          </a:prstGeom>
          <a:solidFill>
            <a:srgbClr val="141E35"/>
          </a:solidFill>
          <a:ln w="12700">
            <a:solidFill>
              <a:srgbClr val="2A3854"/>
            </a:solidFill>
            <a:prstDash val="solid"/>
          </a:ln>
        </p:spPr>
      </p:sp>
      <p:sp>
        <p:nvSpPr>
          <p:cNvPr id="26" name="Shape 24"/>
          <p:cNvSpPr/>
          <p:nvPr/>
        </p:nvSpPr>
        <p:spPr>
          <a:xfrm>
            <a:off x="8586216" y="4197096"/>
            <a:ext cx="448056" cy="329184"/>
          </a:xfrm>
          <a:prstGeom prst="roundRect">
            <a:avLst>
              <a:gd name="adj" fmla="val 47222"/>
            </a:avLst>
          </a:prstGeom>
          <a:solidFill>
            <a:srgbClr val="192541"/>
          </a:solidFill>
          <a:ln w="12700">
            <a:solidFill>
              <a:srgbClr val="192541">
                <a:alpha val="0"/>
              </a:srgbClr>
            </a:solidFill>
            <a:prstDash val="solid"/>
          </a:ln>
        </p:spPr>
      </p:sp>
      <p:sp>
        <p:nvSpPr>
          <p:cNvPr id="27" name="Text 25"/>
          <p:cNvSpPr/>
          <p:nvPr/>
        </p:nvSpPr>
        <p:spPr>
          <a:xfrm>
            <a:off x="8695944" y="4233672"/>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04</a:t>
            </a:r>
            <a:endParaRPr lang="en-US" sz="1010" dirty="0"/>
          </a:p>
        </p:txBody>
      </p:sp>
      <p:sp>
        <p:nvSpPr>
          <p:cNvPr id="28" name="Text 26"/>
          <p:cNvSpPr/>
          <p:nvPr/>
        </p:nvSpPr>
        <p:spPr>
          <a:xfrm>
            <a:off x="9144000" y="4178808"/>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VALIDATE &amp; SHOW</a:t>
            </a:r>
            <a:endParaRPr lang="en-US" sz="1540" dirty="0"/>
          </a:p>
        </p:txBody>
      </p:sp>
      <p:sp>
        <p:nvSpPr>
          <p:cNvPr id="29" name="Text 27"/>
          <p:cNvSpPr/>
          <p:nvPr/>
        </p:nvSpPr>
        <p:spPr>
          <a:xfrm>
            <a:off x="8613648" y="4663440"/>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Check output; display lesson and quiz</a:t>
            </a:r>
            <a:endParaRPr lang="en-US" sz="1240" dirty="0"/>
          </a:p>
        </p:txBody>
      </p:sp>
      <p:sp>
        <p:nvSpPr>
          <p:cNvPr id="30" name="Shape 28"/>
          <p:cNvSpPr/>
          <p:nvPr/>
        </p:nvSpPr>
        <p:spPr>
          <a:xfrm>
            <a:off x="4526280" y="4041648"/>
            <a:ext cx="3172968" cy="1353312"/>
          </a:xfrm>
          <a:prstGeom prst="roundRect">
            <a:avLst>
              <a:gd name="adj" fmla="val 11486"/>
            </a:avLst>
          </a:prstGeom>
          <a:solidFill>
            <a:srgbClr val="141E35"/>
          </a:solidFill>
          <a:ln w="12700">
            <a:solidFill>
              <a:srgbClr val="2A3854"/>
            </a:solidFill>
            <a:prstDash val="solid"/>
          </a:ln>
        </p:spPr>
      </p:sp>
      <p:sp>
        <p:nvSpPr>
          <p:cNvPr id="31" name="Shape 29"/>
          <p:cNvSpPr/>
          <p:nvPr/>
        </p:nvSpPr>
        <p:spPr>
          <a:xfrm>
            <a:off x="4690872" y="4197096"/>
            <a:ext cx="448056" cy="329184"/>
          </a:xfrm>
          <a:prstGeom prst="roundRect">
            <a:avLst>
              <a:gd name="adj" fmla="val 47222"/>
            </a:avLst>
          </a:prstGeom>
          <a:solidFill>
            <a:srgbClr val="192541"/>
          </a:solidFill>
          <a:ln w="12700">
            <a:solidFill>
              <a:srgbClr val="192541">
                <a:alpha val="0"/>
              </a:srgbClr>
            </a:solidFill>
            <a:prstDash val="solid"/>
          </a:ln>
        </p:spPr>
      </p:sp>
      <p:sp>
        <p:nvSpPr>
          <p:cNvPr id="32" name="Text 30"/>
          <p:cNvSpPr/>
          <p:nvPr/>
        </p:nvSpPr>
        <p:spPr>
          <a:xfrm>
            <a:off x="4800600" y="4233672"/>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05</a:t>
            </a:r>
            <a:endParaRPr lang="en-US" sz="1010" dirty="0"/>
          </a:p>
        </p:txBody>
      </p:sp>
      <p:sp>
        <p:nvSpPr>
          <p:cNvPr id="33" name="Text 31"/>
          <p:cNvSpPr/>
          <p:nvPr/>
        </p:nvSpPr>
        <p:spPr>
          <a:xfrm>
            <a:off x="5248656" y="4178808"/>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EVALUATE QUIZ</a:t>
            </a:r>
            <a:endParaRPr lang="en-US" sz="1540" dirty="0"/>
          </a:p>
        </p:txBody>
      </p:sp>
      <p:sp>
        <p:nvSpPr>
          <p:cNvPr id="34" name="Text 32"/>
          <p:cNvSpPr/>
          <p:nvPr/>
        </p:nvSpPr>
        <p:spPr>
          <a:xfrm>
            <a:off x="4718304" y="4663440"/>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Compare answers and calculate score</a:t>
            </a:r>
            <a:endParaRPr lang="en-US" sz="1240" dirty="0"/>
          </a:p>
        </p:txBody>
      </p:sp>
      <p:sp>
        <p:nvSpPr>
          <p:cNvPr id="35" name="Shape 33"/>
          <p:cNvSpPr/>
          <p:nvPr/>
        </p:nvSpPr>
        <p:spPr>
          <a:xfrm>
            <a:off x="630936" y="4041648"/>
            <a:ext cx="3172968" cy="1353312"/>
          </a:xfrm>
          <a:prstGeom prst="roundRect">
            <a:avLst>
              <a:gd name="adj" fmla="val 11486"/>
            </a:avLst>
          </a:prstGeom>
          <a:solidFill>
            <a:srgbClr val="141E35"/>
          </a:solidFill>
          <a:ln w="12700">
            <a:solidFill>
              <a:srgbClr val="2A3854"/>
            </a:solidFill>
            <a:prstDash val="solid"/>
          </a:ln>
        </p:spPr>
      </p:sp>
      <p:sp>
        <p:nvSpPr>
          <p:cNvPr id="36" name="Shape 34"/>
          <p:cNvSpPr/>
          <p:nvPr/>
        </p:nvSpPr>
        <p:spPr>
          <a:xfrm>
            <a:off x="795528" y="4197096"/>
            <a:ext cx="448056" cy="329184"/>
          </a:xfrm>
          <a:prstGeom prst="roundRect">
            <a:avLst>
              <a:gd name="adj" fmla="val 47222"/>
            </a:avLst>
          </a:prstGeom>
          <a:solidFill>
            <a:srgbClr val="192541"/>
          </a:solidFill>
          <a:ln w="12700">
            <a:solidFill>
              <a:srgbClr val="192541">
                <a:alpha val="0"/>
              </a:srgbClr>
            </a:solidFill>
            <a:prstDash val="solid"/>
          </a:ln>
        </p:spPr>
      </p:sp>
      <p:sp>
        <p:nvSpPr>
          <p:cNvPr id="37" name="Text 35"/>
          <p:cNvSpPr/>
          <p:nvPr/>
        </p:nvSpPr>
        <p:spPr>
          <a:xfrm>
            <a:off x="905256" y="4233672"/>
            <a:ext cx="228600" cy="246888"/>
          </a:xfrm>
          <a:prstGeom prst="rect">
            <a:avLst/>
          </a:prstGeom>
          <a:noFill/>
          <a:ln/>
        </p:spPr>
        <p:txBody>
          <a:bodyPr wrap="square" lIns="0" tIns="0" rIns="0" bIns="0" rtlCol="0" anchor="ctr"/>
          <a:lstStyle/>
          <a:p>
            <a:pPr marL="0" indent="0" algn="l">
              <a:lnSpc>
                <a:spcPct val="100000"/>
              </a:lnSpc>
              <a:buNone/>
            </a:pPr>
            <a:r>
              <a:rPr lang="en-US" sz="1010" b="1" dirty="0">
                <a:solidFill>
                  <a:srgbClr val="A89DFF"/>
                </a:solidFill>
                <a:latin typeface="Aptos" pitchFamily="34" charset="0"/>
                <a:ea typeface="Aptos" pitchFamily="34" charset="-122"/>
                <a:cs typeface="Aptos" pitchFamily="34" charset="-120"/>
              </a:rPr>
              <a:t>06</a:t>
            </a:r>
            <a:endParaRPr lang="en-US" sz="1010" dirty="0"/>
          </a:p>
        </p:txBody>
      </p:sp>
      <p:sp>
        <p:nvSpPr>
          <p:cNvPr id="38" name="Text 36"/>
          <p:cNvSpPr/>
          <p:nvPr/>
        </p:nvSpPr>
        <p:spPr>
          <a:xfrm>
            <a:off x="1353312" y="4178808"/>
            <a:ext cx="2313432" cy="338328"/>
          </a:xfrm>
          <a:prstGeom prst="rect">
            <a:avLst/>
          </a:prstGeom>
          <a:noFill/>
          <a:ln/>
        </p:spPr>
        <p:txBody>
          <a:bodyPr wrap="square" lIns="0" tIns="0" rIns="0" bIns="0" rtlCol="0" anchor="ctr"/>
          <a:lstStyle/>
          <a:p>
            <a:pPr marL="0" indent="0" algn="l">
              <a:lnSpc>
                <a:spcPct val="100000"/>
              </a:lnSpc>
              <a:buNone/>
            </a:pPr>
            <a:r>
              <a:rPr lang="en-US" sz="1540" b="1" dirty="0">
                <a:solidFill>
                  <a:srgbClr val="F8FAFF"/>
                </a:solidFill>
                <a:latin typeface="Aptos" pitchFamily="34" charset="0"/>
                <a:ea typeface="Aptos" pitchFamily="34" charset="-122"/>
                <a:cs typeface="Aptos" pitchFamily="34" charset="-120"/>
              </a:rPr>
              <a:t>ADAPT NEXT LEVEL</a:t>
            </a:r>
            <a:endParaRPr lang="en-US" sz="1540" dirty="0"/>
          </a:p>
        </p:txBody>
      </p:sp>
      <p:sp>
        <p:nvSpPr>
          <p:cNvPr id="39" name="Text 37"/>
          <p:cNvSpPr/>
          <p:nvPr/>
        </p:nvSpPr>
        <p:spPr>
          <a:xfrm>
            <a:off x="822960" y="4663440"/>
            <a:ext cx="2788920" cy="52120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B4C0D8"/>
                </a:solidFill>
                <a:latin typeface="Aptos" pitchFamily="34" charset="0"/>
                <a:ea typeface="Aptos" pitchFamily="34" charset="-122"/>
                <a:cs typeface="Aptos" pitchFamily="34" charset="-120"/>
              </a:rPr>
              <a:t>Use score and missed questions for next lesson</a:t>
            </a:r>
            <a:endParaRPr lang="en-US" sz="1240" dirty="0"/>
          </a:p>
        </p:txBody>
      </p:sp>
      <p:sp>
        <p:nvSpPr>
          <p:cNvPr id="40" name="Shape 38"/>
          <p:cNvSpPr/>
          <p:nvPr/>
        </p:nvSpPr>
        <p:spPr>
          <a:xfrm>
            <a:off x="3822192" y="2569464"/>
            <a:ext cx="603504" cy="0"/>
          </a:xfrm>
          <a:prstGeom prst="line">
            <a:avLst/>
          </a:prstGeom>
          <a:noFill/>
          <a:ln w="26670">
            <a:solidFill>
              <a:srgbClr val="7667F4"/>
            </a:solidFill>
            <a:prstDash val="solid"/>
            <a:headEnd type="none"/>
            <a:tailEnd type="triangle"/>
          </a:ln>
        </p:spPr>
      </p:sp>
      <p:sp>
        <p:nvSpPr>
          <p:cNvPr id="41" name="Shape 39"/>
          <p:cNvSpPr/>
          <p:nvPr/>
        </p:nvSpPr>
        <p:spPr>
          <a:xfrm>
            <a:off x="7717536" y="2569464"/>
            <a:ext cx="594360" cy="0"/>
          </a:xfrm>
          <a:prstGeom prst="line">
            <a:avLst/>
          </a:prstGeom>
          <a:noFill/>
          <a:ln w="26670">
            <a:solidFill>
              <a:srgbClr val="7667F4"/>
            </a:solidFill>
            <a:prstDash val="solid"/>
            <a:headEnd type="none"/>
            <a:tailEnd type="triangle"/>
          </a:ln>
        </p:spPr>
      </p:sp>
      <p:sp>
        <p:nvSpPr>
          <p:cNvPr id="42" name="Shape 40"/>
          <p:cNvSpPr/>
          <p:nvPr/>
        </p:nvSpPr>
        <p:spPr>
          <a:xfrm>
            <a:off x="10003536" y="3291840"/>
            <a:ext cx="0" cy="667512"/>
          </a:xfrm>
          <a:prstGeom prst="line">
            <a:avLst/>
          </a:prstGeom>
          <a:noFill/>
          <a:ln w="26670">
            <a:solidFill>
              <a:srgbClr val="7667F4"/>
            </a:solidFill>
            <a:prstDash val="solid"/>
            <a:headEnd type="none"/>
            <a:tailEnd type="triangle"/>
          </a:ln>
        </p:spPr>
      </p:sp>
      <p:sp>
        <p:nvSpPr>
          <p:cNvPr id="43" name="Shape 41"/>
          <p:cNvSpPr/>
          <p:nvPr/>
        </p:nvSpPr>
        <p:spPr>
          <a:xfrm>
            <a:off x="3822192" y="4736592"/>
            <a:ext cx="603504" cy="0"/>
          </a:xfrm>
          <a:prstGeom prst="line">
            <a:avLst/>
          </a:prstGeom>
          <a:noFill/>
          <a:ln w="26670">
            <a:solidFill>
              <a:srgbClr val="50D1C0"/>
            </a:solidFill>
            <a:prstDash val="solid"/>
            <a:headEnd type="triangle"/>
            <a:tailEnd type="none"/>
          </a:ln>
        </p:spPr>
      </p:sp>
      <p:sp>
        <p:nvSpPr>
          <p:cNvPr id="44" name="Shape 42"/>
          <p:cNvSpPr/>
          <p:nvPr/>
        </p:nvSpPr>
        <p:spPr>
          <a:xfrm>
            <a:off x="7717536" y="4736592"/>
            <a:ext cx="603504" cy="0"/>
          </a:xfrm>
          <a:prstGeom prst="line">
            <a:avLst/>
          </a:prstGeom>
          <a:noFill/>
          <a:ln w="26670">
            <a:solidFill>
              <a:srgbClr val="50D1C0"/>
            </a:solidFill>
            <a:prstDash val="solid"/>
            <a:headEnd type="triangle"/>
            <a:tailEnd type="none"/>
          </a:ln>
        </p:spPr>
      </p:sp>
      <p:sp>
        <p:nvSpPr>
          <p:cNvPr id="45" name="Shape 43"/>
          <p:cNvSpPr/>
          <p:nvPr/>
        </p:nvSpPr>
        <p:spPr>
          <a:xfrm>
            <a:off x="640080" y="5724144"/>
            <a:ext cx="10927080" cy="448056"/>
          </a:xfrm>
          <a:prstGeom prst="roundRect">
            <a:avLst>
              <a:gd name="adj" fmla="val 34694"/>
            </a:avLst>
          </a:prstGeom>
          <a:solidFill>
            <a:srgbClr val="192541"/>
          </a:solidFill>
          <a:ln w="12700">
            <a:solidFill>
              <a:srgbClr val="192541">
                <a:alpha val="0"/>
              </a:srgbClr>
            </a:solidFill>
            <a:prstDash val="solid"/>
          </a:ln>
        </p:spPr>
      </p:sp>
      <p:sp>
        <p:nvSpPr>
          <p:cNvPr id="46" name="Text 44"/>
          <p:cNvSpPr/>
          <p:nvPr/>
        </p:nvSpPr>
        <p:spPr>
          <a:xfrm>
            <a:off x="841248" y="5797296"/>
            <a:ext cx="10570464" cy="265176"/>
          </a:xfrm>
          <a:prstGeom prst="rect">
            <a:avLst/>
          </a:prstGeom>
          <a:noFill/>
          <a:ln/>
        </p:spPr>
        <p:txBody>
          <a:bodyPr wrap="square" lIns="0" tIns="0" rIns="0" bIns="0" rtlCol="0" anchor="ctr"/>
          <a:lstStyle/>
          <a:p>
            <a:pPr marL="0" indent="0" algn="ctr">
              <a:lnSpc>
                <a:spcPct val="100000"/>
              </a:lnSpc>
              <a:buNone/>
            </a:pPr>
            <a:r>
              <a:rPr lang="en-US" sz="1250" b="1" dirty="0">
                <a:solidFill>
                  <a:srgbClr val="50D1C0"/>
                </a:solidFill>
                <a:latin typeface="Aptos" pitchFamily="34" charset="0"/>
                <a:ea typeface="Aptos" pitchFamily="34" charset="-122"/>
                <a:cs typeface="Aptos" pitchFamily="34" charset="-120"/>
              </a:rPr>
              <a:t>ADAPTIVE LOOP: the next lesson uses the recommended level + questions the student missed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04 / PERSONALIZATION</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One topic. Three different learning paths.</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Dynamic prompts adapt both the explanation and the assessment</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05 / 07</a:t>
            </a:r>
            <a:endParaRPr lang="en-US" sz="1020" dirty="0"/>
          </a:p>
        </p:txBody>
      </p:sp>
      <p:sp>
        <p:nvSpPr>
          <p:cNvPr id="10" name="Shape 8"/>
          <p:cNvSpPr/>
          <p:nvPr/>
        </p:nvSpPr>
        <p:spPr>
          <a:xfrm>
            <a:off x="640080" y="1773936"/>
            <a:ext cx="5202936" cy="950976"/>
          </a:xfrm>
          <a:prstGeom prst="roundRect">
            <a:avLst>
              <a:gd name="adj" fmla="val 16346"/>
            </a:avLst>
          </a:prstGeom>
          <a:solidFill>
            <a:srgbClr val="141E35"/>
          </a:solidFill>
          <a:ln w="12700">
            <a:solidFill>
              <a:srgbClr val="2A3854"/>
            </a:solidFill>
            <a:prstDash val="solid"/>
          </a:ln>
        </p:spPr>
      </p:sp>
      <p:sp>
        <p:nvSpPr>
          <p:cNvPr id="11" name="Shape 9"/>
          <p:cNvSpPr/>
          <p:nvPr/>
        </p:nvSpPr>
        <p:spPr>
          <a:xfrm>
            <a:off x="640080" y="1773936"/>
            <a:ext cx="50292" cy="950976"/>
          </a:xfrm>
          <a:prstGeom prst="rect">
            <a:avLst/>
          </a:prstGeom>
          <a:solidFill>
            <a:srgbClr val="62D6A1"/>
          </a:solidFill>
          <a:ln w="12700">
            <a:solidFill>
              <a:srgbClr val="62D6A1">
                <a:alpha val="0"/>
              </a:srgbClr>
            </a:solidFill>
            <a:prstDash val="solid"/>
          </a:ln>
        </p:spPr>
      </p:sp>
      <p:sp>
        <p:nvSpPr>
          <p:cNvPr id="12" name="Text 10"/>
          <p:cNvSpPr/>
          <p:nvPr/>
        </p:nvSpPr>
        <p:spPr>
          <a:xfrm>
            <a:off x="859536" y="1892808"/>
            <a:ext cx="4681728" cy="246888"/>
          </a:xfrm>
          <a:prstGeom prst="rect">
            <a:avLst/>
          </a:prstGeom>
          <a:noFill/>
          <a:ln/>
        </p:spPr>
        <p:txBody>
          <a:bodyPr wrap="square" lIns="0" tIns="0" rIns="0" bIns="0" rtlCol="0" anchor="ctr"/>
          <a:lstStyle/>
          <a:p>
            <a:pPr marL="0" indent="0" algn="l">
              <a:lnSpc>
                <a:spcPct val="100000"/>
              </a:lnSpc>
              <a:buNone/>
            </a:pPr>
            <a:r>
              <a:rPr lang="en-US" sz="1250" b="1" dirty="0">
                <a:solidFill>
                  <a:srgbClr val="62D6A1"/>
                </a:solidFill>
                <a:latin typeface="Aptos" pitchFamily="34" charset="0"/>
                <a:ea typeface="Aptos" pitchFamily="34" charset="-122"/>
                <a:cs typeface="Aptos" pitchFamily="34" charset="-120"/>
              </a:rPr>
              <a:t>BEGINNER</a:t>
            </a:r>
            <a:endParaRPr lang="en-US" sz="1250" dirty="0"/>
          </a:p>
        </p:txBody>
      </p:sp>
      <p:sp>
        <p:nvSpPr>
          <p:cNvPr id="13" name="Text 11"/>
          <p:cNvSpPr/>
          <p:nvPr/>
        </p:nvSpPr>
        <p:spPr>
          <a:xfrm>
            <a:off x="859536" y="2185416"/>
            <a:ext cx="4663440" cy="384048"/>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8FAFF"/>
                </a:solidFill>
                <a:latin typeface="Aptos" pitchFamily="34" charset="0"/>
                <a:ea typeface="Aptos" pitchFamily="34" charset="-122"/>
                <a:cs typeface="Aptos" pitchFamily="34" charset="-120"/>
              </a:rPr>
              <a:t>Node, head, next pointer, simple 10 → 20 → 30 examples</a:t>
            </a:r>
            <a:endParaRPr lang="en-US" sz="1340" dirty="0"/>
          </a:p>
        </p:txBody>
      </p:sp>
      <p:sp>
        <p:nvSpPr>
          <p:cNvPr id="14" name="Shape 12"/>
          <p:cNvSpPr/>
          <p:nvPr/>
        </p:nvSpPr>
        <p:spPr>
          <a:xfrm>
            <a:off x="640080" y="2889504"/>
            <a:ext cx="5202936" cy="950976"/>
          </a:xfrm>
          <a:prstGeom prst="roundRect">
            <a:avLst>
              <a:gd name="adj" fmla="val 16346"/>
            </a:avLst>
          </a:prstGeom>
          <a:solidFill>
            <a:srgbClr val="141E35"/>
          </a:solidFill>
          <a:ln w="12700">
            <a:solidFill>
              <a:srgbClr val="2A3854"/>
            </a:solidFill>
            <a:prstDash val="solid"/>
          </a:ln>
        </p:spPr>
      </p:sp>
      <p:sp>
        <p:nvSpPr>
          <p:cNvPr id="15" name="Shape 13"/>
          <p:cNvSpPr/>
          <p:nvPr/>
        </p:nvSpPr>
        <p:spPr>
          <a:xfrm>
            <a:off x="640080" y="2889504"/>
            <a:ext cx="50292" cy="950976"/>
          </a:xfrm>
          <a:prstGeom prst="rect">
            <a:avLst/>
          </a:prstGeom>
          <a:solidFill>
            <a:srgbClr val="F7BD64"/>
          </a:solidFill>
          <a:ln w="12700">
            <a:solidFill>
              <a:srgbClr val="F7BD64">
                <a:alpha val="0"/>
              </a:srgbClr>
            </a:solidFill>
            <a:prstDash val="solid"/>
          </a:ln>
        </p:spPr>
      </p:sp>
      <p:sp>
        <p:nvSpPr>
          <p:cNvPr id="16" name="Text 14"/>
          <p:cNvSpPr/>
          <p:nvPr/>
        </p:nvSpPr>
        <p:spPr>
          <a:xfrm>
            <a:off x="859536" y="3008376"/>
            <a:ext cx="4681728" cy="246888"/>
          </a:xfrm>
          <a:prstGeom prst="rect">
            <a:avLst/>
          </a:prstGeom>
          <a:noFill/>
          <a:ln/>
        </p:spPr>
        <p:txBody>
          <a:bodyPr wrap="square" lIns="0" tIns="0" rIns="0" bIns="0" rtlCol="0" anchor="ctr"/>
          <a:lstStyle/>
          <a:p>
            <a:pPr marL="0" indent="0" algn="l">
              <a:lnSpc>
                <a:spcPct val="100000"/>
              </a:lnSpc>
              <a:buNone/>
            </a:pPr>
            <a:r>
              <a:rPr lang="en-US" sz="1250" b="1" dirty="0">
                <a:solidFill>
                  <a:srgbClr val="F7BD64"/>
                </a:solidFill>
                <a:latin typeface="Aptos" pitchFamily="34" charset="0"/>
                <a:ea typeface="Aptos" pitchFamily="34" charset="-122"/>
                <a:cs typeface="Aptos" pitchFamily="34" charset="-120"/>
              </a:rPr>
              <a:t>INTERMEDIATE</a:t>
            </a:r>
            <a:endParaRPr lang="en-US" sz="1250" dirty="0"/>
          </a:p>
        </p:txBody>
      </p:sp>
      <p:sp>
        <p:nvSpPr>
          <p:cNvPr id="17" name="Text 15"/>
          <p:cNvSpPr/>
          <p:nvPr/>
        </p:nvSpPr>
        <p:spPr>
          <a:xfrm>
            <a:off x="859536" y="3300984"/>
            <a:ext cx="4663440" cy="384048"/>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8FAFF"/>
                </a:solidFill>
                <a:latin typeface="Aptos" pitchFamily="34" charset="0"/>
                <a:ea typeface="Aptos" pitchFamily="34" charset="-122"/>
                <a:cs typeface="Aptos" pitchFamily="34" charset="-120"/>
              </a:rPr>
              <a:t>Insertion, deletion, traversal, pseudocode, time complexity</a:t>
            </a:r>
            <a:endParaRPr lang="en-US" sz="1340" dirty="0"/>
          </a:p>
        </p:txBody>
      </p:sp>
      <p:sp>
        <p:nvSpPr>
          <p:cNvPr id="18" name="Shape 16"/>
          <p:cNvSpPr/>
          <p:nvPr/>
        </p:nvSpPr>
        <p:spPr>
          <a:xfrm>
            <a:off x="640080" y="4005072"/>
            <a:ext cx="5202936" cy="950976"/>
          </a:xfrm>
          <a:prstGeom prst="roundRect">
            <a:avLst>
              <a:gd name="adj" fmla="val 16346"/>
            </a:avLst>
          </a:prstGeom>
          <a:solidFill>
            <a:srgbClr val="141E35"/>
          </a:solidFill>
          <a:ln w="12700">
            <a:solidFill>
              <a:srgbClr val="2A3854"/>
            </a:solidFill>
            <a:prstDash val="solid"/>
          </a:ln>
        </p:spPr>
      </p:sp>
      <p:sp>
        <p:nvSpPr>
          <p:cNvPr id="19" name="Shape 17"/>
          <p:cNvSpPr/>
          <p:nvPr/>
        </p:nvSpPr>
        <p:spPr>
          <a:xfrm>
            <a:off x="640080" y="4005072"/>
            <a:ext cx="50292" cy="950976"/>
          </a:xfrm>
          <a:prstGeom prst="rect">
            <a:avLst/>
          </a:prstGeom>
          <a:solidFill>
            <a:srgbClr val="A89DFF"/>
          </a:solidFill>
          <a:ln w="12700">
            <a:solidFill>
              <a:srgbClr val="A89DFF">
                <a:alpha val="0"/>
              </a:srgbClr>
            </a:solidFill>
            <a:prstDash val="solid"/>
          </a:ln>
        </p:spPr>
      </p:sp>
      <p:sp>
        <p:nvSpPr>
          <p:cNvPr id="20" name="Text 18"/>
          <p:cNvSpPr/>
          <p:nvPr/>
        </p:nvSpPr>
        <p:spPr>
          <a:xfrm>
            <a:off x="859536" y="4123944"/>
            <a:ext cx="4681728" cy="246888"/>
          </a:xfrm>
          <a:prstGeom prst="rect">
            <a:avLst/>
          </a:prstGeom>
          <a:noFill/>
          <a:ln/>
        </p:spPr>
        <p:txBody>
          <a:bodyPr wrap="square" lIns="0" tIns="0" rIns="0" bIns="0" rtlCol="0" anchor="ctr"/>
          <a:lstStyle/>
          <a:p>
            <a:pPr marL="0" indent="0" algn="l">
              <a:lnSpc>
                <a:spcPct val="100000"/>
              </a:lnSpc>
              <a:buNone/>
            </a:pPr>
            <a:r>
              <a:rPr lang="en-US" sz="1250" b="1" dirty="0">
                <a:solidFill>
                  <a:srgbClr val="A89DFF"/>
                </a:solidFill>
                <a:latin typeface="Aptos" pitchFamily="34" charset="0"/>
                <a:ea typeface="Aptos" pitchFamily="34" charset="-122"/>
                <a:cs typeface="Aptos" pitchFamily="34" charset="-120"/>
              </a:rPr>
              <a:t>ADVANCED</a:t>
            </a:r>
            <a:endParaRPr lang="en-US" sz="1250" dirty="0"/>
          </a:p>
        </p:txBody>
      </p:sp>
      <p:sp>
        <p:nvSpPr>
          <p:cNvPr id="21" name="Text 19"/>
          <p:cNvSpPr/>
          <p:nvPr/>
        </p:nvSpPr>
        <p:spPr>
          <a:xfrm>
            <a:off x="859536" y="4416552"/>
            <a:ext cx="4663440" cy="384048"/>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8FAFF"/>
                </a:solidFill>
                <a:latin typeface="Aptos" pitchFamily="34" charset="0"/>
                <a:ea typeface="Aptos" pitchFamily="34" charset="-122"/>
                <a:cs typeface="Aptos" pitchFamily="34" charset="-120"/>
              </a:rPr>
              <a:t>Floyd cycle detection, reversal, edge cases, trade-offs</a:t>
            </a:r>
            <a:endParaRPr lang="en-US" sz="1340" dirty="0"/>
          </a:p>
        </p:txBody>
      </p:sp>
      <p:sp>
        <p:nvSpPr>
          <p:cNvPr id="22" name="Shape 20"/>
          <p:cNvSpPr/>
          <p:nvPr/>
        </p:nvSpPr>
        <p:spPr>
          <a:xfrm>
            <a:off x="640080" y="5230368"/>
            <a:ext cx="5202936" cy="850392"/>
          </a:xfrm>
          <a:prstGeom prst="roundRect">
            <a:avLst>
              <a:gd name="adj" fmla="val 18280"/>
            </a:avLst>
          </a:prstGeom>
          <a:solidFill>
            <a:srgbClr val="192541"/>
          </a:solidFill>
          <a:ln w="12700">
            <a:solidFill>
              <a:srgbClr val="2A3854"/>
            </a:solidFill>
            <a:prstDash val="solid"/>
          </a:ln>
        </p:spPr>
      </p:sp>
      <p:sp>
        <p:nvSpPr>
          <p:cNvPr id="23" name="Text 21"/>
          <p:cNvSpPr/>
          <p:nvPr/>
        </p:nvSpPr>
        <p:spPr>
          <a:xfrm>
            <a:off x="868680" y="5358384"/>
            <a:ext cx="1371600" cy="228600"/>
          </a:xfrm>
          <a:prstGeom prst="rect">
            <a:avLst/>
          </a:prstGeom>
          <a:noFill/>
          <a:ln/>
        </p:spPr>
        <p:txBody>
          <a:bodyPr wrap="square" lIns="0" tIns="0" rIns="0" bIns="0" rtlCol="0" anchor="ctr"/>
          <a:lstStyle/>
          <a:p>
            <a:pPr marL="0" indent="0" algn="l">
              <a:lnSpc>
                <a:spcPct val="100000"/>
              </a:lnSpc>
              <a:buNone/>
            </a:pPr>
            <a:r>
              <a:rPr lang="en-US" sz="1220" b="1" dirty="0">
                <a:solidFill>
                  <a:srgbClr val="50D1C0"/>
                </a:solidFill>
                <a:latin typeface="Aptos" pitchFamily="34" charset="0"/>
                <a:ea typeface="Aptos" pitchFamily="34" charset="-122"/>
                <a:cs typeface="Aptos" pitchFamily="34" charset="-120"/>
              </a:rPr>
              <a:t>Prompt inputs</a:t>
            </a:r>
            <a:endParaRPr lang="en-US" sz="1220" dirty="0"/>
          </a:p>
        </p:txBody>
      </p:sp>
      <p:sp>
        <p:nvSpPr>
          <p:cNvPr id="24" name="Text 22"/>
          <p:cNvSpPr/>
          <p:nvPr/>
        </p:nvSpPr>
        <p:spPr>
          <a:xfrm>
            <a:off x="868680" y="5650992"/>
            <a:ext cx="4681728" cy="274320"/>
          </a:xfrm>
          <a:prstGeom prst="rect">
            <a:avLst/>
          </a:prstGeom>
          <a:noFill/>
          <a:ln/>
        </p:spPr>
        <p:txBody>
          <a:bodyPr wrap="square" lIns="0" tIns="0" rIns="0" bIns="0" rtlCol="0" anchor="ctr">
            <a:normAutofit/>
          </a:bodyPr>
          <a:lstStyle/>
          <a:p>
            <a:pPr marL="0" indent="0" algn="l">
              <a:lnSpc>
                <a:spcPct val="100000"/>
              </a:lnSpc>
              <a:buNone/>
            </a:pPr>
            <a:r>
              <a:rPr lang="en-US" sz="1230" dirty="0">
                <a:solidFill>
                  <a:srgbClr val="B4C0D8"/>
                </a:solidFill>
                <a:latin typeface="Aptos" pitchFamily="34" charset="0"/>
                <a:ea typeface="Aptos" pitchFamily="34" charset="-122"/>
                <a:cs typeface="Aptos" pitchFamily="34" charset="-120"/>
              </a:rPr>
              <a:t>Topic  •  Level  •  Style  •  Language  •  Missed questions</a:t>
            </a:r>
            <a:endParaRPr lang="en-US" sz="1230" dirty="0"/>
          </a:p>
        </p:txBody>
      </p:sp>
      <p:sp>
        <p:nvSpPr>
          <p:cNvPr id="25" name="Shape 23"/>
          <p:cNvSpPr/>
          <p:nvPr/>
        </p:nvSpPr>
        <p:spPr>
          <a:xfrm>
            <a:off x="6080760" y="1773936"/>
            <a:ext cx="5431536" cy="4306824"/>
          </a:xfrm>
          <a:prstGeom prst="roundRect">
            <a:avLst>
              <a:gd name="adj" fmla="val 3609"/>
            </a:avLst>
          </a:prstGeom>
          <a:solidFill>
            <a:srgbClr val="141E35"/>
          </a:solidFill>
          <a:ln w="12700">
            <a:solidFill>
              <a:srgbClr val="2A3854"/>
            </a:solidFill>
            <a:prstDash val="solid"/>
          </a:ln>
        </p:spPr>
      </p:sp>
      <p:sp>
        <p:nvSpPr>
          <p:cNvPr id="26" name="Text 24"/>
          <p:cNvSpPr/>
          <p:nvPr/>
        </p:nvSpPr>
        <p:spPr>
          <a:xfrm>
            <a:off x="6318504" y="1901952"/>
            <a:ext cx="4928616" cy="246888"/>
          </a:xfrm>
          <a:prstGeom prst="rect">
            <a:avLst/>
          </a:prstGeom>
          <a:noFill/>
          <a:ln/>
        </p:spPr>
        <p:txBody>
          <a:bodyPr wrap="square" lIns="0" tIns="0" rIns="0" bIns="0" rtlCol="0" anchor="ctr"/>
          <a:lstStyle/>
          <a:p>
            <a:pPr marL="0" indent="0" algn="l">
              <a:lnSpc>
                <a:spcPct val="100000"/>
              </a:lnSpc>
              <a:buNone/>
            </a:pPr>
            <a:r>
              <a:rPr lang="en-US" sz="1130" b="1" dirty="0">
                <a:solidFill>
                  <a:srgbClr val="50D1C0"/>
                </a:solidFill>
                <a:latin typeface="Aptos" pitchFamily="34" charset="0"/>
                <a:ea typeface="Aptos" pitchFamily="34" charset="-122"/>
                <a:cs typeface="Aptos" pitchFamily="34" charset="-120"/>
              </a:rPr>
              <a:t>ACTUAL PROTOTYPE: BEGINNER LESSON</a:t>
            </a:r>
            <a:endParaRPr lang="en-US" sz="1130" dirty="0"/>
          </a:p>
        </p:txBody>
      </p:sp>
      <p:pic>
        <p:nvPicPr>
          <p:cNvPr id="27" name="Image 0" descr="/mnt/data/_adaptlearn_build/lesson.png"/>
          <p:cNvPicPr>
            <a:picLocks noChangeAspect="1"/>
          </p:cNvPicPr>
          <p:nvPr/>
        </p:nvPicPr>
        <p:blipFill>
          <a:blip r:embed="rId3"/>
          <a:stretch>
            <a:fillRect/>
          </a:stretch>
        </p:blipFill>
        <p:spPr>
          <a:xfrm>
            <a:off x="6272784" y="2320359"/>
            <a:ext cx="4992624" cy="3277985"/>
          </a:xfrm>
          <a:prstGeom prst="rect">
            <a:avLst/>
          </a:prstGeom>
        </p:spPr>
      </p:pic>
      <p:sp>
        <p:nvSpPr>
          <p:cNvPr id="28" name="Text 25"/>
          <p:cNvSpPr/>
          <p:nvPr/>
        </p:nvSpPr>
        <p:spPr>
          <a:xfrm>
            <a:off x="6309360" y="5751576"/>
            <a:ext cx="4901184" cy="228600"/>
          </a:xfrm>
          <a:prstGeom prst="rect">
            <a:avLst/>
          </a:prstGeom>
          <a:noFill/>
          <a:ln/>
        </p:spPr>
        <p:txBody>
          <a:bodyPr wrap="square" lIns="0" tIns="0" rIns="0" bIns="0" rtlCol="0" anchor="ctr"/>
          <a:lstStyle/>
          <a:p>
            <a:pPr marL="0" indent="0" algn="ctr">
              <a:lnSpc>
                <a:spcPct val="100000"/>
              </a:lnSpc>
              <a:buNone/>
            </a:pPr>
            <a:r>
              <a:rPr lang="en-US" sz="1010" dirty="0">
                <a:solidFill>
                  <a:srgbClr val="8A9BB8"/>
                </a:solidFill>
                <a:latin typeface="Aptos" pitchFamily="34" charset="0"/>
                <a:ea typeface="Aptos" pitchFamily="34" charset="-122"/>
                <a:cs typeface="Aptos" pitchFamily="34" charset="-120"/>
              </a:rPr>
              <a:t>Gemini mode generates new content; offline mode uses curated lessons.</a:t>
            </a:r>
            <a:endParaRPr lang="en-US" sz="10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05 / ADAPTIVE ASSESSMENT</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The quiz decides what comes next</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Five MCQs; a transparent, rule-based difficulty adjustment</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06 / 07</a:t>
            </a:r>
            <a:endParaRPr lang="en-US" sz="1020" dirty="0"/>
          </a:p>
        </p:txBody>
      </p:sp>
      <p:sp>
        <p:nvSpPr>
          <p:cNvPr id="10" name="Shape 8"/>
          <p:cNvSpPr/>
          <p:nvPr/>
        </p:nvSpPr>
        <p:spPr>
          <a:xfrm>
            <a:off x="640080" y="1709928"/>
            <a:ext cx="5102352" cy="4416552"/>
          </a:xfrm>
          <a:prstGeom prst="roundRect">
            <a:avLst>
              <a:gd name="adj" fmla="val 3520"/>
            </a:avLst>
          </a:prstGeom>
          <a:solidFill>
            <a:srgbClr val="141E35"/>
          </a:solidFill>
          <a:ln w="12700">
            <a:solidFill>
              <a:srgbClr val="2A3854"/>
            </a:solidFill>
            <a:prstDash val="solid"/>
          </a:ln>
        </p:spPr>
      </p:sp>
      <p:sp>
        <p:nvSpPr>
          <p:cNvPr id="11" name="Text 9"/>
          <p:cNvSpPr/>
          <p:nvPr/>
        </p:nvSpPr>
        <p:spPr>
          <a:xfrm>
            <a:off x="868680" y="1920240"/>
            <a:ext cx="4608576" cy="265176"/>
          </a:xfrm>
          <a:prstGeom prst="rect">
            <a:avLst/>
          </a:prstGeom>
          <a:noFill/>
          <a:ln/>
        </p:spPr>
        <p:txBody>
          <a:bodyPr wrap="square" lIns="0" tIns="0" rIns="0" bIns="0" rtlCol="0" anchor="ctr"/>
          <a:lstStyle/>
          <a:p>
            <a:pPr marL="0" indent="0" algn="l">
              <a:lnSpc>
                <a:spcPct val="100000"/>
              </a:lnSpc>
              <a:buNone/>
            </a:pPr>
            <a:r>
              <a:rPr lang="en-US" sz="1280" b="1" dirty="0">
                <a:solidFill>
                  <a:srgbClr val="50D1C0"/>
                </a:solidFill>
                <a:latin typeface="Aptos" pitchFamily="34" charset="0"/>
                <a:ea typeface="Aptos" pitchFamily="34" charset="-122"/>
                <a:cs typeface="Aptos" pitchFamily="34" charset="-120"/>
              </a:rPr>
              <a:t>ADAPTIVE RULES</a:t>
            </a:r>
            <a:endParaRPr lang="en-US" sz="1280" dirty="0"/>
          </a:p>
        </p:txBody>
      </p:sp>
      <p:sp>
        <p:nvSpPr>
          <p:cNvPr id="12" name="Shape 10"/>
          <p:cNvSpPr/>
          <p:nvPr/>
        </p:nvSpPr>
        <p:spPr>
          <a:xfrm>
            <a:off x="868680" y="2313432"/>
            <a:ext cx="4626864" cy="740664"/>
          </a:xfrm>
          <a:prstGeom prst="roundRect">
            <a:avLst>
              <a:gd name="adj" fmla="val 20988"/>
            </a:avLst>
          </a:prstGeom>
          <a:solidFill>
            <a:srgbClr val="192541"/>
          </a:solidFill>
          <a:ln w="12700">
            <a:solidFill>
              <a:srgbClr val="192541">
                <a:alpha val="0"/>
              </a:srgbClr>
            </a:solidFill>
            <a:prstDash val="solid"/>
          </a:ln>
        </p:spPr>
      </p:sp>
      <p:sp>
        <p:nvSpPr>
          <p:cNvPr id="13" name="Text 11"/>
          <p:cNvSpPr/>
          <p:nvPr/>
        </p:nvSpPr>
        <p:spPr>
          <a:xfrm>
            <a:off x="1033272" y="2432304"/>
            <a:ext cx="1033272" cy="338328"/>
          </a:xfrm>
          <a:prstGeom prst="rect">
            <a:avLst/>
          </a:prstGeom>
          <a:noFill/>
          <a:ln/>
        </p:spPr>
        <p:txBody>
          <a:bodyPr wrap="square" lIns="0" tIns="0" rIns="0" bIns="0" rtlCol="0" anchor="ctr"/>
          <a:lstStyle/>
          <a:p>
            <a:pPr marL="0" indent="0" algn="l">
              <a:lnSpc>
                <a:spcPct val="100000"/>
              </a:lnSpc>
              <a:buNone/>
            </a:pPr>
            <a:r>
              <a:rPr lang="en-US" sz="1800" b="1" dirty="0">
                <a:solidFill>
                  <a:srgbClr val="F8898E"/>
                </a:solidFill>
                <a:latin typeface="Aptos" pitchFamily="34" charset="0"/>
                <a:ea typeface="Aptos" pitchFamily="34" charset="-122"/>
                <a:cs typeface="Aptos" pitchFamily="34" charset="-120"/>
              </a:rPr>
              <a:t>0–2 / 5</a:t>
            </a:r>
            <a:endParaRPr lang="en-US" sz="1800" dirty="0"/>
          </a:p>
        </p:txBody>
      </p:sp>
      <p:sp>
        <p:nvSpPr>
          <p:cNvPr id="14" name="Text 12"/>
          <p:cNvSpPr/>
          <p:nvPr/>
        </p:nvSpPr>
        <p:spPr>
          <a:xfrm>
            <a:off x="2176272" y="2423160"/>
            <a:ext cx="1097280" cy="256032"/>
          </a:xfrm>
          <a:prstGeom prst="rect">
            <a:avLst/>
          </a:prstGeom>
          <a:noFill/>
          <a:ln/>
        </p:spPr>
        <p:txBody>
          <a:bodyPr wrap="square" lIns="0" tIns="0" rIns="0" bIns="0" rtlCol="0" anchor="ctr"/>
          <a:lstStyle/>
          <a:p>
            <a:pPr marL="0" indent="0" algn="l">
              <a:lnSpc>
                <a:spcPct val="100000"/>
              </a:lnSpc>
              <a:buNone/>
            </a:pPr>
            <a:r>
              <a:rPr lang="en-US" sz="1310" b="1" dirty="0">
                <a:solidFill>
                  <a:srgbClr val="F8FAFF"/>
                </a:solidFill>
                <a:latin typeface="Aptos" pitchFamily="34" charset="0"/>
                <a:ea typeface="Aptos" pitchFamily="34" charset="-122"/>
                <a:cs typeface="Aptos" pitchFamily="34" charset="-120"/>
              </a:rPr>
              <a:t>LOWER</a:t>
            </a:r>
            <a:endParaRPr lang="en-US" sz="1310" dirty="0"/>
          </a:p>
        </p:txBody>
      </p:sp>
      <p:sp>
        <p:nvSpPr>
          <p:cNvPr id="15" name="Text 13"/>
          <p:cNvSpPr/>
          <p:nvPr/>
        </p:nvSpPr>
        <p:spPr>
          <a:xfrm>
            <a:off x="2185416" y="2706624"/>
            <a:ext cx="3127248" cy="219456"/>
          </a:xfrm>
          <a:prstGeom prst="rect">
            <a:avLst/>
          </a:prstGeom>
          <a:noFill/>
          <a:ln/>
        </p:spPr>
        <p:txBody>
          <a:bodyPr wrap="square" lIns="0" tIns="0" rIns="0" bIns="0" rtlCol="0" anchor="ctr"/>
          <a:lstStyle/>
          <a:p>
            <a:pPr marL="0" indent="0" algn="l">
              <a:lnSpc>
                <a:spcPct val="100000"/>
              </a:lnSpc>
              <a:buNone/>
            </a:pPr>
            <a:r>
              <a:rPr lang="en-US" sz="1150" dirty="0">
                <a:solidFill>
                  <a:srgbClr val="B4C0D8"/>
                </a:solidFill>
                <a:latin typeface="Aptos" pitchFamily="34" charset="0"/>
                <a:ea typeface="Aptos" pitchFamily="34" charset="-122"/>
                <a:cs typeface="Aptos" pitchFamily="34" charset="-120"/>
              </a:rPr>
              <a:t>Step down one level, if possible</a:t>
            </a:r>
            <a:endParaRPr lang="en-US" sz="1150" dirty="0"/>
          </a:p>
        </p:txBody>
      </p:sp>
      <p:sp>
        <p:nvSpPr>
          <p:cNvPr id="16" name="Shape 14"/>
          <p:cNvSpPr/>
          <p:nvPr/>
        </p:nvSpPr>
        <p:spPr>
          <a:xfrm>
            <a:off x="868680" y="3218688"/>
            <a:ext cx="4626864" cy="740664"/>
          </a:xfrm>
          <a:prstGeom prst="roundRect">
            <a:avLst>
              <a:gd name="adj" fmla="val 20988"/>
            </a:avLst>
          </a:prstGeom>
          <a:solidFill>
            <a:srgbClr val="192541"/>
          </a:solidFill>
          <a:ln w="12700">
            <a:solidFill>
              <a:srgbClr val="192541">
                <a:alpha val="0"/>
              </a:srgbClr>
            </a:solidFill>
            <a:prstDash val="solid"/>
          </a:ln>
        </p:spPr>
      </p:sp>
      <p:sp>
        <p:nvSpPr>
          <p:cNvPr id="17" name="Text 15"/>
          <p:cNvSpPr/>
          <p:nvPr/>
        </p:nvSpPr>
        <p:spPr>
          <a:xfrm>
            <a:off x="1033272" y="3337560"/>
            <a:ext cx="1033272" cy="338328"/>
          </a:xfrm>
          <a:prstGeom prst="rect">
            <a:avLst/>
          </a:prstGeom>
          <a:noFill/>
          <a:ln/>
        </p:spPr>
        <p:txBody>
          <a:bodyPr wrap="square" lIns="0" tIns="0" rIns="0" bIns="0" rtlCol="0" anchor="ctr"/>
          <a:lstStyle/>
          <a:p>
            <a:pPr marL="0" indent="0" algn="l">
              <a:lnSpc>
                <a:spcPct val="100000"/>
              </a:lnSpc>
              <a:buNone/>
            </a:pPr>
            <a:r>
              <a:rPr lang="en-US" sz="1800" b="1" dirty="0">
                <a:solidFill>
                  <a:srgbClr val="F7BD64"/>
                </a:solidFill>
                <a:latin typeface="Aptos" pitchFamily="34" charset="0"/>
                <a:ea typeface="Aptos" pitchFamily="34" charset="-122"/>
                <a:cs typeface="Aptos" pitchFamily="34" charset="-120"/>
              </a:rPr>
              <a:t>3–4 / 5</a:t>
            </a:r>
            <a:endParaRPr lang="en-US" sz="1800" dirty="0"/>
          </a:p>
        </p:txBody>
      </p:sp>
      <p:sp>
        <p:nvSpPr>
          <p:cNvPr id="18" name="Text 16"/>
          <p:cNvSpPr/>
          <p:nvPr/>
        </p:nvSpPr>
        <p:spPr>
          <a:xfrm>
            <a:off x="2176272" y="3328416"/>
            <a:ext cx="1097280" cy="256032"/>
          </a:xfrm>
          <a:prstGeom prst="rect">
            <a:avLst/>
          </a:prstGeom>
          <a:noFill/>
          <a:ln/>
        </p:spPr>
        <p:txBody>
          <a:bodyPr wrap="square" lIns="0" tIns="0" rIns="0" bIns="0" rtlCol="0" anchor="ctr"/>
          <a:lstStyle/>
          <a:p>
            <a:pPr marL="0" indent="0" algn="l">
              <a:lnSpc>
                <a:spcPct val="100000"/>
              </a:lnSpc>
              <a:buNone/>
            </a:pPr>
            <a:r>
              <a:rPr lang="en-US" sz="1310" b="1" dirty="0">
                <a:solidFill>
                  <a:srgbClr val="F8FAFF"/>
                </a:solidFill>
                <a:latin typeface="Aptos" pitchFamily="34" charset="0"/>
                <a:ea typeface="Aptos" pitchFamily="34" charset="-122"/>
                <a:cs typeface="Aptos" pitchFamily="34" charset="-120"/>
              </a:rPr>
              <a:t>REPEAT</a:t>
            </a:r>
            <a:endParaRPr lang="en-US" sz="1310" dirty="0"/>
          </a:p>
        </p:txBody>
      </p:sp>
      <p:sp>
        <p:nvSpPr>
          <p:cNvPr id="19" name="Text 17"/>
          <p:cNvSpPr/>
          <p:nvPr/>
        </p:nvSpPr>
        <p:spPr>
          <a:xfrm>
            <a:off x="2185416" y="3611880"/>
            <a:ext cx="3127248" cy="219456"/>
          </a:xfrm>
          <a:prstGeom prst="rect">
            <a:avLst/>
          </a:prstGeom>
          <a:noFill/>
          <a:ln/>
        </p:spPr>
        <p:txBody>
          <a:bodyPr wrap="square" lIns="0" tIns="0" rIns="0" bIns="0" rtlCol="0" anchor="ctr"/>
          <a:lstStyle/>
          <a:p>
            <a:pPr marL="0" indent="0" algn="l">
              <a:lnSpc>
                <a:spcPct val="100000"/>
              </a:lnSpc>
              <a:buNone/>
            </a:pPr>
            <a:r>
              <a:rPr lang="en-US" sz="1150" dirty="0">
                <a:solidFill>
                  <a:srgbClr val="B4C0D8"/>
                </a:solidFill>
                <a:latin typeface="Aptos" pitchFamily="34" charset="0"/>
                <a:ea typeface="Aptos" pitchFamily="34" charset="-122"/>
                <a:cs typeface="Aptos" pitchFamily="34" charset="-120"/>
              </a:rPr>
              <a:t>Practice at the same level</a:t>
            </a:r>
            <a:endParaRPr lang="en-US" sz="1150" dirty="0"/>
          </a:p>
        </p:txBody>
      </p:sp>
      <p:sp>
        <p:nvSpPr>
          <p:cNvPr id="20" name="Shape 18"/>
          <p:cNvSpPr/>
          <p:nvPr/>
        </p:nvSpPr>
        <p:spPr>
          <a:xfrm>
            <a:off x="868680" y="4123944"/>
            <a:ext cx="4626864" cy="740664"/>
          </a:xfrm>
          <a:prstGeom prst="roundRect">
            <a:avLst>
              <a:gd name="adj" fmla="val 20988"/>
            </a:avLst>
          </a:prstGeom>
          <a:solidFill>
            <a:srgbClr val="192541"/>
          </a:solidFill>
          <a:ln w="12700">
            <a:solidFill>
              <a:srgbClr val="192541">
                <a:alpha val="0"/>
              </a:srgbClr>
            </a:solidFill>
            <a:prstDash val="solid"/>
          </a:ln>
        </p:spPr>
      </p:sp>
      <p:sp>
        <p:nvSpPr>
          <p:cNvPr id="21" name="Text 19"/>
          <p:cNvSpPr/>
          <p:nvPr/>
        </p:nvSpPr>
        <p:spPr>
          <a:xfrm>
            <a:off x="1033272" y="4242816"/>
            <a:ext cx="1033272" cy="338328"/>
          </a:xfrm>
          <a:prstGeom prst="rect">
            <a:avLst/>
          </a:prstGeom>
          <a:noFill/>
          <a:ln/>
        </p:spPr>
        <p:txBody>
          <a:bodyPr wrap="square" lIns="0" tIns="0" rIns="0" bIns="0" rtlCol="0" anchor="ctr"/>
          <a:lstStyle/>
          <a:p>
            <a:pPr marL="0" indent="0" algn="l">
              <a:lnSpc>
                <a:spcPct val="100000"/>
              </a:lnSpc>
              <a:buNone/>
            </a:pPr>
            <a:r>
              <a:rPr lang="en-US" sz="1800" b="1" dirty="0">
                <a:solidFill>
                  <a:srgbClr val="62D6A1"/>
                </a:solidFill>
                <a:latin typeface="Aptos" pitchFamily="34" charset="0"/>
                <a:ea typeface="Aptos" pitchFamily="34" charset="-122"/>
                <a:cs typeface="Aptos" pitchFamily="34" charset="-120"/>
              </a:rPr>
              <a:t>5 / 5</a:t>
            </a:r>
            <a:endParaRPr lang="en-US" sz="1800" dirty="0"/>
          </a:p>
        </p:txBody>
      </p:sp>
      <p:sp>
        <p:nvSpPr>
          <p:cNvPr id="22" name="Text 20"/>
          <p:cNvSpPr/>
          <p:nvPr/>
        </p:nvSpPr>
        <p:spPr>
          <a:xfrm>
            <a:off x="2176272" y="4233672"/>
            <a:ext cx="1097280" cy="256032"/>
          </a:xfrm>
          <a:prstGeom prst="rect">
            <a:avLst/>
          </a:prstGeom>
          <a:noFill/>
          <a:ln/>
        </p:spPr>
        <p:txBody>
          <a:bodyPr wrap="square" lIns="0" tIns="0" rIns="0" bIns="0" rtlCol="0" anchor="ctr"/>
          <a:lstStyle/>
          <a:p>
            <a:pPr marL="0" indent="0" algn="l">
              <a:lnSpc>
                <a:spcPct val="100000"/>
              </a:lnSpc>
              <a:buNone/>
            </a:pPr>
            <a:r>
              <a:rPr lang="en-US" sz="1310" b="1" dirty="0">
                <a:solidFill>
                  <a:srgbClr val="F8FAFF"/>
                </a:solidFill>
                <a:latin typeface="Aptos" pitchFamily="34" charset="0"/>
                <a:ea typeface="Aptos" pitchFamily="34" charset="-122"/>
                <a:cs typeface="Aptos" pitchFamily="34" charset="-120"/>
              </a:rPr>
              <a:t>ADVANCE</a:t>
            </a:r>
            <a:endParaRPr lang="en-US" sz="1310" dirty="0"/>
          </a:p>
        </p:txBody>
      </p:sp>
      <p:sp>
        <p:nvSpPr>
          <p:cNvPr id="23" name="Text 21"/>
          <p:cNvSpPr/>
          <p:nvPr/>
        </p:nvSpPr>
        <p:spPr>
          <a:xfrm>
            <a:off x="2185416" y="4517136"/>
            <a:ext cx="3127248" cy="219456"/>
          </a:xfrm>
          <a:prstGeom prst="rect">
            <a:avLst/>
          </a:prstGeom>
          <a:noFill/>
          <a:ln/>
        </p:spPr>
        <p:txBody>
          <a:bodyPr wrap="square" lIns="0" tIns="0" rIns="0" bIns="0" rtlCol="0" anchor="ctr"/>
          <a:lstStyle/>
          <a:p>
            <a:pPr marL="0" indent="0" algn="l">
              <a:lnSpc>
                <a:spcPct val="100000"/>
              </a:lnSpc>
              <a:buNone/>
            </a:pPr>
            <a:r>
              <a:rPr lang="en-US" sz="1150" dirty="0">
                <a:solidFill>
                  <a:srgbClr val="B4C0D8"/>
                </a:solidFill>
                <a:latin typeface="Aptos" pitchFamily="34" charset="0"/>
                <a:ea typeface="Aptos" pitchFamily="34" charset="-122"/>
                <a:cs typeface="Aptos" pitchFamily="34" charset="-120"/>
              </a:rPr>
              <a:t>Move up one level, if possible</a:t>
            </a:r>
            <a:endParaRPr lang="en-US" sz="1150" dirty="0"/>
          </a:p>
        </p:txBody>
      </p:sp>
      <p:sp>
        <p:nvSpPr>
          <p:cNvPr id="24" name="Shape 22"/>
          <p:cNvSpPr/>
          <p:nvPr/>
        </p:nvSpPr>
        <p:spPr>
          <a:xfrm>
            <a:off x="905256" y="5230368"/>
            <a:ext cx="4553712" cy="0"/>
          </a:xfrm>
          <a:prstGeom prst="line">
            <a:avLst/>
          </a:prstGeom>
          <a:noFill/>
          <a:ln w="10160">
            <a:solidFill>
              <a:srgbClr val="2A3854"/>
            </a:solidFill>
            <a:prstDash val="solid"/>
            <a:headEnd type="none"/>
            <a:tailEnd type="none"/>
          </a:ln>
        </p:spPr>
      </p:sp>
      <p:sp>
        <p:nvSpPr>
          <p:cNvPr id="25" name="Text 23"/>
          <p:cNvSpPr/>
          <p:nvPr/>
        </p:nvSpPr>
        <p:spPr>
          <a:xfrm>
            <a:off x="923544" y="5376672"/>
            <a:ext cx="1143000" cy="201168"/>
          </a:xfrm>
          <a:prstGeom prst="rect">
            <a:avLst/>
          </a:prstGeom>
          <a:noFill/>
          <a:ln/>
        </p:spPr>
        <p:txBody>
          <a:bodyPr wrap="square" lIns="0" tIns="0" rIns="0" bIns="0" rtlCol="0" anchor="ctr"/>
          <a:lstStyle/>
          <a:p>
            <a:pPr marL="0" indent="0" algn="l">
              <a:lnSpc>
                <a:spcPct val="100000"/>
              </a:lnSpc>
              <a:buNone/>
            </a:pPr>
            <a:r>
              <a:rPr lang="en-US" sz="1060" b="1" dirty="0">
                <a:solidFill>
                  <a:srgbClr val="50D1C0"/>
                </a:solidFill>
                <a:latin typeface="Aptos" pitchFamily="34" charset="0"/>
                <a:ea typeface="Aptos" pitchFamily="34" charset="-122"/>
                <a:cs typeface="Aptos" pitchFamily="34" charset="-120"/>
              </a:rPr>
              <a:t>ACTUAL TEST</a:t>
            </a:r>
            <a:endParaRPr lang="en-US" sz="1060" dirty="0"/>
          </a:p>
        </p:txBody>
      </p:sp>
      <p:sp>
        <p:nvSpPr>
          <p:cNvPr id="26" name="Text 24"/>
          <p:cNvSpPr/>
          <p:nvPr/>
        </p:nvSpPr>
        <p:spPr>
          <a:xfrm>
            <a:off x="1901952" y="5349240"/>
            <a:ext cx="978408" cy="338328"/>
          </a:xfrm>
          <a:prstGeom prst="rect">
            <a:avLst/>
          </a:prstGeom>
          <a:noFill/>
          <a:ln/>
        </p:spPr>
        <p:txBody>
          <a:bodyPr wrap="square" lIns="0" tIns="0" rIns="0" bIns="0" rtlCol="0" anchor="ctr"/>
          <a:lstStyle/>
          <a:p>
            <a:pPr marL="0" indent="0" algn="l">
              <a:lnSpc>
                <a:spcPct val="100000"/>
              </a:lnSpc>
              <a:buNone/>
            </a:pPr>
            <a:r>
              <a:rPr lang="en-US" sz="2400" b="1" dirty="0">
                <a:solidFill>
                  <a:srgbClr val="F8FAFF"/>
                </a:solidFill>
                <a:latin typeface="Aptos" pitchFamily="34" charset="0"/>
                <a:ea typeface="Aptos" pitchFamily="34" charset="-122"/>
                <a:cs typeface="Aptos" pitchFamily="34" charset="-120"/>
              </a:rPr>
              <a:t>1/5</a:t>
            </a:r>
            <a:endParaRPr lang="en-US" sz="2400" dirty="0"/>
          </a:p>
        </p:txBody>
      </p:sp>
      <p:sp>
        <p:nvSpPr>
          <p:cNvPr id="27" name="Text 25"/>
          <p:cNvSpPr/>
          <p:nvPr/>
        </p:nvSpPr>
        <p:spPr>
          <a:xfrm>
            <a:off x="2990088" y="5367528"/>
            <a:ext cx="2240280" cy="31089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B4C0D8"/>
                </a:solidFill>
                <a:latin typeface="Aptos" pitchFamily="34" charset="0"/>
                <a:ea typeface="Aptos" pitchFamily="34" charset="-122"/>
                <a:cs typeface="Aptos" pitchFamily="34" charset="-120"/>
              </a:rPr>
              <a:t>20% → Beginner (more practice)</a:t>
            </a:r>
            <a:endParaRPr lang="en-US" sz="1210" dirty="0"/>
          </a:p>
        </p:txBody>
      </p:sp>
      <p:sp>
        <p:nvSpPr>
          <p:cNvPr id="28" name="Shape 26"/>
          <p:cNvSpPr/>
          <p:nvPr/>
        </p:nvSpPr>
        <p:spPr>
          <a:xfrm>
            <a:off x="5961888" y="1709928"/>
            <a:ext cx="5541264" cy="4416552"/>
          </a:xfrm>
          <a:prstGeom prst="roundRect">
            <a:avLst>
              <a:gd name="adj" fmla="val 3520"/>
            </a:avLst>
          </a:prstGeom>
          <a:solidFill>
            <a:srgbClr val="141E35"/>
          </a:solidFill>
          <a:ln w="12700">
            <a:solidFill>
              <a:srgbClr val="2A3854"/>
            </a:solidFill>
            <a:prstDash val="solid"/>
          </a:ln>
        </p:spPr>
      </p:sp>
      <p:sp>
        <p:nvSpPr>
          <p:cNvPr id="29" name="Text 27"/>
          <p:cNvSpPr/>
          <p:nvPr/>
        </p:nvSpPr>
        <p:spPr>
          <a:xfrm>
            <a:off x="6217920" y="1920240"/>
            <a:ext cx="5001768" cy="246888"/>
          </a:xfrm>
          <a:prstGeom prst="rect">
            <a:avLst/>
          </a:prstGeom>
          <a:noFill/>
          <a:ln/>
        </p:spPr>
        <p:txBody>
          <a:bodyPr wrap="square" lIns="0" tIns="0" rIns="0" bIns="0" rtlCol="0" anchor="ctr"/>
          <a:lstStyle/>
          <a:p>
            <a:pPr marL="0" indent="0" algn="l">
              <a:lnSpc>
                <a:spcPct val="100000"/>
              </a:lnSpc>
              <a:buNone/>
            </a:pPr>
            <a:r>
              <a:rPr lang="en-US" sz="1190" b="1" dirty="0">
                <a:solidFill>
                  <a:srgbClr val="50D1C0"/>
                </a:solidFill>
                <a:latin typeface="Aptos" pitchFamily="34" charset="0"/>
                <a:ea typeface="Aptos" pitchFamily="34" charset="-122"/>
                <a:cs typeface="Aptos" pitchFamily="34" charset="-120"/>
              </a:rPr>
              <a:t>QUIZ RESULT IN ADAPTLEARN AI</a:t>
            </a:r>
            <a:endParaRPr lang="en-US" sz="1190" dirty="0"/>
          </a:p>
        </p:txBody>
      </p:sp>
      <p:pic>
        <p:nvPicPr>
          <p:cNvPr id="30" name="Image 0" descr="/mnt/data/_adaptlearn_build/result.png"/>
          <p:cNvPicPr>
            <a:picLocks noChangeAspect="1"/>
          </p:cNvPicPr>
          <p:nvPr/>
        </p:nvPicPr>
        <p:blipFill>
          <a:blip r:embed="rId3"/>
          <a:stretch>
            <a:fillRect/>
          </a:stretch>
        </p:blipFill>
        <p:spPr>
          <a:xfrm>
            <a:off x="6181344" y="2358644"/>
            <a:ext cx="5120640" cy="3228848"/>
          </a:xfrm>
          <a:prstGeom prst="rect">
            <a:avLst/>
          </a:prstGeom>
        </p:spPr>
      </p:pic>
      <p:sp>
        <p:nvSpPr>
          <p:cNvPr id="31" name="Text 28"/>
          <p:cNvSpPr/>
          <p:nvPr/>
        </p:nvSpPr>
        <p:spPr>
          <a:xfrm>
            <a:off x="6227064" y="5724144"/>
            <a:ext cx="4992624" cy="228600"/>
          </a:xfrm>
          <a:prstGeom prst="rect">
            <a:avLst/>
          </a:prstGeom>
          <a:noFill/>
          <a:ln/>
        </p:spPr>
        <p:txBody>
          <a:bodyPr wrap="square" lIns="0" tIns="0" rIns="0" bIns="0" rtlCol="0" anchor="ctr"/>
          <a:lstStyle/>
          <a:p>
            <a:pPr marL="0" indent="0" algn="ctr">
              <a:lnSpc>
                <a:spcPct val="100000"/>
              </a:lnSpc>
              <a:buNone/>
            </a:pPr>
            <a:r>
              <a:rPr lang="en-US" sz="1160" dirty="0">
                <a:solidFill>
                  <a:srgbClr val="8A9BB8"/>
                </a:solidFill>
                <a:latin typeface="Aptos" pitchFamily="34" charset="0"/>
                <a:ea typeface="Aptos" pitchFamily="34" charset="-122"/>
                <a:cs typeface="Aptos" pitchFamily="34" charset="-120"/>
              </a:rPr>
              <a:t>Score = correct answers ÷ 5 × 100</a:t>
            </a:r>
            <a:endParaRPr lang="en-US" sz="11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1021"/>
          </a:solidFill>
          <a:ln w="12700">
            <a:solidFill>
              <a:srgbClr val="0A1021">
                <a:alpha val="0"/>
              </a:srgbClr>
            </a:solidFill>
            <a:prstDash val="solid"/>
          </a:ln>
        </p:spPr>
      </p:sp>
      <p:sp>
        <p:nvSpPr>
          <p:cNvPr id="3" name="Shape 1"/>
          <p:cNvSpPr/>
          <p:nvPr/>
        </p:nvSpPr>
        <p:spPr>
          <a:xfrm>
            <a:off x="0" y="0"/>
            <a:ext cx="12192000" cy="68580"/>
          </a:xfrm>
          <a:prstGeom prst="rect">
            <a:avLst/>
          </a:prstGeom>
          <a:solidFill>
            <a:srgbClr val="7667F4"/>
          </a:solidFill>
          <a:ln w="12700">
            <a:solidFill>
              <a:srgbClr val="7667F4">
                <a:alpha val="0"/>
              </a:srgbClr>
            </a:solidFill>
            <a:prstDash val="solid"/>
          </a:ln>
        </p:spPr>
      </p:sp>
      <p:sp>
        <p:nvSpPr>
          <p:cNvPr id="4" name="Text 2"/>
          <p:cNvSpPr/>
          <p:nvPr/>
        </p:nvSpPr>
        <p:spPr>
          <a:xfrm>
            <a:off x="594360" y="246888"/>
            <a:ext cx="10058400" cy="246888"/>
          </a:xfrm>
          <a:prstGeom prst="rect">
            <a:avLst/>
          </a:prstGeom>
          <a:noFill/>
          <a:ln/>
        </p:spPr>
        <p:txBody>
          <a:bodyPr wrap="square" lIns="0" tIns="0" rIns="0" bIns="0" rtlCol="0" anchor="ctr"/>
          <a:lstStyle/>
          <a:p>
            <a:pPr marL="0" indent="0" algn="l">
              <a:lnSpc>
                <a:spcPct val="100000"/>
              </a:lnSpc>
              <a:buNone/>
            </a:pPr>
            <a:r>
              <a:rPr lang="en-US" sz="1050" b="1" kern="0" spc="200" dirty="0">
                <a:solidFill>
                  <a:srgbClr val="50D1C0"/>
                </a:solidFill>
                <a:latin typeface="Aptos" pitchFamily="34" charset="0"/>
                <a:ea typeface="Aptos" pitchFamily="34" charset="-122"/>
                <a:cs typeface="Aptos" pitchFamily="34" charset="-120"/>
              </a:rPr>
              <a:t>06 / RESULTS &amp; OUTLOOK</a:t>
            </a:r>
            <a:endParaRPr lang="en-US" sz="1050" dirty="0"/>
          </a:p>
        </p:txBody>
      </p:sp>
      <p:sp>
        <p:nvSpPr>
          <p:cNvPr id="5" name="Text 3"/>
          <p:cNvSpPr/>
          <p:nvPr/>
        </p:nvSpPr>
        <p:spPr>
          <a:xfrm>
            <a:off x="594360" y="630936"/>
            <a:ext cx="11064240" cy="457200"/>
          </a:xfrm>
          <a:prstGeom prst="rect">
            <a:avLst/>
          </a:prstGeom>
          <a:noFill/>
          <a:ln/>
        </p:spPr>
        <p:txBody>
          <a:bodyPr wrap="square" lIns="0" tIns="0" rIns="0" bIns="0" rtlCol="0" anchor="ctr"/>
          <a:lstStyle/>
          <a:p>
            <a:pPr marL="0" indent="0" algn="l">
              <a:lnSpc>
                <a:spcPct val="100000"/>
              </a:lnSpc>
              <a:buNone/>
            </a:pPr>
            <a:r>
              <a:rPr lang="en-US" sz="2950" b="1" dirty="0">
                <a:solidFill>
                  <a:srgbClr val="F8FAFF"/>
                </a:solidFill>
                <a:latin typeface="Aptos" pitchFamily="34" charset="0"/>
                <a:ea typeface="Aptos" pitchFamily="34" charset="-122"/>
                <a:cs typeface="Aptos" pitchFamily="34" charset="-120"/>
              </a:rPr>
              <a:t>A working MVP with a clear path forward</a:t>
            </a:r>
            <a:endParaRPr lang="en-US" sz="2950" dirty="0"/>
          </a:p>
        </p:txBody>
      </p:sp>
      <p:sp>
        <p:nvSpPr>
          <p:cNvPr id="6" name="Text 4"/>
          <p:cNvSpPr/>
          <p:nvPr/>
        </p:nvSpPr>
        <p:spPr>
          <a:xfrm>
            <a:off x="603504" y="1143000"/>
            <a:ext cx="10972800" cy="347472"/>
          </a:xfrm>
          <a:prstGeom prst="rect">
            <a:avLst/>
          </a:prstGeom>
          <a:noFill/>
          <a:ln/>
        </p:spPr>
        <p:txBody>
          <a:bodyPr wrap="square" lIns="0" tIns="0" rIns="0" bIns="0" rtlCol="0" anchor="ctr"/>
          <a:lstStyle/>
          <a:p>
            <a:pPr marL="0" indent="0" algn="l">
              <a:lnSpc>
                <a:spcPct val="100000"/>
              </a:lnSpc>
              <a:buNone/>
            </a:pPr>
            <a:r>
              <a:rPr lang="en-US" sz="1400" dirty="0">
                <a:solidFill>
                  <a:srgbClr val="B4C0D8"/>
                </a:solidFill>
                <a:latin typeface="Aptos" pitchFamily="34" charset="0"/>
                <a:ea typeface="Aptos" pitchFamily="34" charset="-122"/>
                <a:cs typeface="Aptos" pitchFamily="34" charset="-120"/>
              </a:rPr>
              <a:t>Generative lessons, structured assessment and feedback-driven learning</a:t>
            </a:r>
            <a:endParaRPr lang="en-US" sz="1400" dirty="0"/>
          </a:p>
        </p:txBody>
      </p:sp>
      <p:sp>
        <p:nvSpPr>
          <p:cNvPr id="7" name="Shape 5"/>
          <p:cNvSpPr/>
          <p:nvPr/>
        </p:nvSpPr>
        <p:spPr>
          <a:xfrm>
            <a:off x="594360" y="6446520"/>
            <a:ext cx="11000232" cy="0"/>
          </a:xfrm>
          <a:prstGeom prst="line">
            <a:avLst/>
          </a:prstGeom>
          <a:noFill/>
          <a:ln w="8890">
            <a:solidFill>
              <a:srgbClr val="2A3854"/>
            </a:solidFill>
            <a:prstDash val="solid"/>
            <a:headEnd type="none"/>
            <a:tailEnd type="none"/>
          </a:ln>
        </p:spPr>
      </p:sp>
      <p:sp>
        <p:nvSpPr>
          <p:cNvPr id="8" name="Text 6"/>
          <p:cNvSpPr/>
          <p:nvPr/>
        </p:nvSpPr>
        <p:spPr>
          <a:xfrm>
            <a:off x="603504" y="6519672"/>
            <a:ext cx="6400800" cy="164592"/>
          </a:xfrm>
          <a:prstGeom prst="rect">
            <a:avLst/>
          </a:prstGeom>
          <a:noFill/>
          <a:ln/>
        </p:spPr>
        <p:txBody>
          <a:bodyPr wrap="square" lIns="0" tIns="0" rIns="0" bIns="0" rtlCol="0" anchor="ctr"/>
          <a:lstStyle/>
          <a:p>
            <a:pPr marL="0" indent="0" algn="l">
              <a:lnSpc>
                <a:spcPct val="100000"/>
              </a:lnSpc>
              <a:buNone/>
            </a:pPr>
            <a:r>
              <a:rPr lang="en-US" sz="900" dirty="0">
                <a:solidFill>
                  <a:srgbClr val="8A9BB8"/>
                </a:solidFill>
                <a:latin typeface="Aptos" pitchFamily="34" charset="0"/>
                <a:ea typeface="Aptos" pitchFamily="34" charset="-122"/>
                <a:cs typeface="Aptos" pitchFamily="34" charset="-120"/>
              </a:rPr>
              <a:t>ADAPTLEARN AI  •  B.TECH AI/ML  •  2026</a:t>
            </a:r>
            <a:endParaRPr lang="en-US" sz="900" dirty="0"/>
          </a:p>
        </p:txBody>
      </p:sp>
      <p:sp>
        <p:nvSpPr>
          <p:cNvPr id="9" name="Text 7"/>
          <p:cNvSpPr/>
          <p:nvPr/>
        </p:nvSpPr>
        <p:spPr>
          <a:xfrm>
            <a:off x="10744200" y="6501384"/>
            <a:ext cx="841248" cy="210312"/>
          </a:xfrm>
          <a:prstGeom prst="rect">
            <a:avLst/>
          </a:prstGeom>
          <a:noFill/>
          <a:ln/>
        </p:spPr>
        <p:txBody>
          <a:bodyPr wrap="square" lIns="0" tIns="0" rIns="0" bIns="0" rtlCol="0" anchor="ctr"/>
          <a:lstStyle/>
          <a:p>
            <a:pPr marL="0" indent="0" algn="r">
              <a:lnSpc>
                <a:spcPct val="100000"/>
              </a:lnSpc>
              <a:buNone/>
            </a:pPr>
            <a:r>
              <a:rPr lang="en-US" sz="1020" dirty="0">
                <a:solidFill>
                  <a:srgbClr val="8A9BB8"/>
                </a:solidFill>
                <a:latin typeface="Aptos" pitchFamily="34" charset="0"/>
                <a:ea typeface="Aptos" pitchFamily="34" charset="-122"/>
                <a:cs typeface="Aptos" pitchFamily="34" charset="-120"/>
              </a:rPr>
              <a:t>07 / 07</a:t>
            </a:r>
            <a:endParaRPr lang="en-US" sz="1020" dirty="0"/>
          </a:p>
        </p:txBody>
      </p:sp>
      <p:sp>
        <p:nvSpPr>
          <p:cNvPr id="10" name="Shape 8"/>
          <p:cNvSpPr/>
          <p:nvPr/>
        </p:nvSpPr>
        <p:spPr>
          <a:xfrm>
            <a:off x="640080" y="1755648"/>
            <a:ext cx="3200400" cy="4096512"/>
          </a:xfrm>
          <a:prstGeom prst="roundRect">
            <a:avLst>
              <a:gd name="adj" fmla="val 4857"/>
            </a:avLst>
          </a:prstGeom>
          <a:solidFill>
            <a:srgbClr val="141E35"/>
          </a:solidFill>
          <a:ln w="12700">
            <a:solidFill>
              <a:srgbClr val="2A3854"/>
            </a:solidFill>
            <a:prstDash val="solid"/>
          </a:ln>
        </p:spPr>
      </p:sp>
      <p:sp>
        <p:nvSpPr>
          <p:cNvPr id="11" name="Shape 9"/>
          <p:cNvSpPr/>
          <p:nvPr/>
        </p:nvSpPr>
        <p:spPr>
          <a:xfrm>
            <a:off x="832104" y="1956816"/>
            <a:ext cx="310896" cy="64008"/>
          </a:xfrm>
          <a:prstGeom prst="rect">
            <a:avLst/>
          </a:prstGeom>
          <a:solidFill>
            <a:srgbClr val="62D6A1"/>
          </a:solidFill>
          <a:ln w="12700">
            <a:solidFill>
              <a:srgbClr val="62D6A1">
                <a:alpha val="0"/>
              </a:srgbClr>
            </a:solidFill>
            <a:prstDash val="solid"/>
          </a:ln>
        </p:spPr>
      </p:sp>
      <p:sp>
        <p:nvSpPr>
          <p:cNvPr id="12" name="Text 10"/>
          <p:cNvSpPr/>
          <p:nvPr/>
        </p:nvSpPr>
        <p:spPr>
          <a:xfrm>
            <a:off x="822960" y="2148840"/>
            <a:ext cx="2779776" cy="301752"/>
          </a:xfrm>
          <a:prstGeom prst="rect">
            <a:avLst/>
          </a:prstGeom>
          <a:noFill/>
          <a:ln/>
        </p:spPr>
        <p:txBody>
          <a:bodyPr wrap="square" lIns="0" tIns="0" rIns="0" bIns="0" rtlCol="0" anchor="ctr"/>
          <a:lstStyle/>
          <a:p>
            <a:pPr marL="0" indent="0" algn="l">
              <a:lnSpc>
                <a:spcPct val="100000"/>
              </a:lnSpc>
              <a:buNone/>
            </a:pPr>
            <a:r>
              <a:rPr lang="en-US" sz="1360" b="1" dirty="0">
                <a:solidFill>
                  <a:srgbClr val="62D6A1"/>
                </a:solidFill>
                <a:latin typeface="Aptos" pitchFamily="34" charset="0"/>
                <a:ea typeface="Aptos" pitchFamily="34" charset="-122"/>
                <a:cs typeface="Aptos" pitchFamily="34" charset="-120"/>
              </a:rPr>
              <a:t>DELIVERED</a:t>
            </a:r>
            <a:endParaRPr lang="en-US" sz="1360" dirty="0"/>
          </a:p>
        </p:txBody>
      </p:sp>
      <p:sp>
        <p:nvSpPr>
          <p:cNvPr id="13" name="Shape 11"/>
          <p:cNvSpPr/>
          <p:nvPr/>
        </p:nvSpPr>
        <p:spPr>
          <a:xfrm>
            <a:off x="813816" y="2761488"/>
            <a:ext cx="68580" cy="68580"/>
          </a:xfrm>
          <a:prstGeom prst="rect">
            <a:avLst/>
          </a:prstGeom>
          <a:solidFill>
            <a:srgbClr val="62D6A1"/>
          </a:solidFill>
          <a:ln w="12700">
            <a:solidFill>
              <a:srgbClr val="62D6A1">
                <a:alpha val="0"/>
              </a:srgbClr>
            </a:solidFill>
            <a:prstDash val="solid"/>
          </a:ln>
        </p:spPr>
      </p:sp>
      <p:sp>
        <p:nvSpPr>
          <p:cNvPr id="14" name="Text 12"/>
          <p:cNvSpPr/>
          <p:nvPr/>
        </p:nvSpPr>
        <p:spPr>
          <a:xfrm>
            <a:off x="1014984" y="2633472"/>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Interactive Streamlit application</a:t>
            </a:r>
            <a:endParaRPr lang="en-US" sz="1240" dirty="0"/>
          </a:p>
        </p:txBody>
      </p:sp>
      <p:sp>
        <p:nvSpPr>
          <p:cNvPr id="15" name="Shape 13"/>
          <p:cNvSpPr/>
          <p:nvPr/>
        </p:nvSpPr>
        <p:spPr>
          <a:xfrm>
            <a:off x="813816" y="3346704"/>
            <a:ext cx="68580" cy="68580"/>
          </a:xfrm>
          <a:prstGeom prst="rect">
            <a:avLst/>
          </a:prstGeom>
          <a:solidFill>
            <a:srgbClr val="62D6A1"/>
          </a:solidFill>
          <a:ln w="12700">
            <a:solidFill>
              <a:srgbClr val="62D6A1">
                <a:alpha val="0"/>
              </a:srgbClr>
            </a:solidFill>
            <a:prstDash val="solid"/>
          </a:ln>
        </p:spPr>
      </p:sp>
      <p:sp>
        <p:nvSpPr>
          <p:cNvPr id="16" name="Text 14"/>
          <p:cNvSpPr/>
          <p:nvPr/>
        </p:nvSpPr>
        <p:spPr>
          <a:xfrm>
            <a:off x="1014984" y="3218688"/>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Three distinct learning levels</a:t>
            </a:r>
            <a:endParaRPr lang="en-US" sz="1240" dirty="0"/>
          </a:p>
        </p:txBody>
      </p:sp>
      <p:sp>
        <p:nvSpPr>
          <p:cNvPr id="17" name="Shape 15"/>
          <p:cNvSpPr/>
          <p:nvPr/>
        </p:nvSpPr>
        <p:spPr>
          <a:xfrm>
            <a:off x="813816" y="3931920"/>
            <a:ext cx="68580" cy="68580"/>
          </a:xfrm>
          <a:prstGeom prst="rect">
            <a:avLst/>
          </a:prstGeom>
          <a:solidFill>
            <a:srgbClr val="62D6A1"/>
          </a:solidFill>
          <a:ln w="12700">
            <a:solidFill>
              <a:srgbClr val="62D6A1">
                <a:alpha val="0"/>
              </a:srgbClr>
            </a:solidFill>
            <a:prstDash val="solid"/>
          </a:ln>
        </p:spPr>
      </p:sp>
      <p:sp>
        <p:nvSpPr>
          <p:cNvPr id="18" name="Text 16"/>
          <p:cNvSpPr/>
          <p:nvPr/>
        </p:nvSpPr>
        <p:spPr>
          <a:xfrm>
            <a:off x="1014984" y="3803904"/>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Gemini API integration and offline mode</a:t>
            </a:r>
            <a:endParaRPr lang="en-US" sz="1240" dirty="0"/>
          </a:p>
        </p:txBody>
      </p:sp>
      <p:sp>
        <p:nvSpPr>
          <p:cNvPr id="19" name="Shape 17"/>
          <p:cNvSpPr/>
          <p:nvPr/>
        </p:nvSpPr>
        <p:spPr>
          <a:xfrm>
            <a:off x="813816" y="4517136"/>
            <a:ext cx="68580" cy="68580"/>
          </a:xfrm>
          <a:prstGeom prst="rect">
            <a:avLst/>
          </a:prstGeom>
          <a:solidFill>
            <a:srgbClr val="62D6A1"/>
          </a:solidFill>
          <a:ln w="12700">
            <a:solidFill>
              <a:srgbClr val="62D6A1">
                <a:alpha val="0"/>
              </a:srgbClr>
            </a:solidFill>
            <a:prstDash val="solid"/>
          </a:ln>
        </p:spPr>
      </p:sp>
      <p:sp>
        <p:nvSpPr>
          <p:cNvPr id="20" name="Text 18"/>
          <p:cNvSpPr/>
          <p:nvPr/>
        </p:nvSpPr>
        <p:spPr>
          <a:xfrm>
            <a:off x="1014984" y="4389120"/>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Quiz scoring and adaptive recommendations</a:t>
            </a:r>
            <a:endParaRPr lang="en-US" sz="1240" dirty="0"/>
          </a:p>
        </p:txBody>
      </p:sp>
      <p:sp>
        <p:nvSpPr>
          <p:cNvPr id="21" name="Shape 19"/>
          <p:cNvSpPr/>
          <p:nvPr/>
        </p:nvSpPr>
        <p:spPr>
          <a:xfrm>
            <a:off x="813816" y="5102352"/>
            <a:ext cx="68580" cy="68580"/>
          </a:xfrm>
          <a:prstGeom prst="rect">
            <a:avLst/>
          </a:prstGeom>
          <a:solidFill>
            <a:srgbClr val="62D6A1"/>
          </a:solidFill>
          <a:ln w="12700">
            <a:solidFill>
              <a:srgbClr val="62D6A1">
                <a:alpha val="0"/>
              </a:srgbClr>
            </a:solidFill>
            <a:prstDash val="solid"/>
          </a:ln>
        </p:spPr>
      </p:sp>
      <p:sp>
        <p:nvSpPr>
          <p:cNvPr id="22" name="Text 20"/>
          <p:cNvSpPr/>
          <p:nvPr/>
        </p:nvSpPr>
        <p:spPr>
          <a:xfrm>
            <a:off x="1014984" y="4974336"/>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In-session learning progress</a:t>
            </a:r>
            <a:endParaRPr lang="en-US" sz="1240" dirty="0"/>
          </a:p>
        </p:txBody>
      </p:sp>
      <p:sp>
        <p:nvSpPr>
          <p:cNvPr id="23" name="Shape 21"/>
          <p:cNvSpPr/>
          <p:nvPr/>
        </p:nvSpPr>
        <p:spPr>
          <a:xfrm>
            <a:off x="4507992" y="1755648"/>
            <a:ext cx="3200400" cy="4096512"/>
          </a:xfrm>
          <a:prstGeom prst="roundRect">
            <a:avLst>
              <a:gd name="adj" fmla="val 4857"/>
            </a:avLst>
          </a:prstGeom>
          <a:solidFill>
            <a:srgbClr val="141E35"/>
          </a:solidFill>
          <a:ln w="12700">
            <a:solidFill>
              <a:srgbClr val="2A3854"/>
            </a:solidFill>
            <a:prstDash val="solid"/>
          </a:ln>
        </p:spPr>
      </p:sp>
      <p:sp>
        <p:nvSpPr>
          <p:cNvPr id="24" name="Shape 22"/>
          <p:cNvSpPr/>
          <p:nvPr/>
        </p:nvSpPr>
        <p:spPr>
          <a:xfrm>
            <a:off x="4700016" y="1956816"/>
            <a:ext cx="310896" cy="64008"/>
          </a:xfrm>
          <a:prstGeom prst="rect">
            <a:avLst/>
          </a:prstGeom>
          <a:solidFill>
            <a:srgbClr val="F7BD64"/>
          </a:solidFill>
          <a:ln w="12700">
            <a:solidFill>
              <a:srgbClr val="F7BD64">
                <a:alpha val="0"/>
              </a:srgbClr>
            </a:solidFill>
            <a:prstDash val="solid"/>
          </a:ln>
        </p:spPr>
      </p:sp>
      <p:sp>
        <p:nvSpPr>
          <p:cNvPr id="25" name="Text 23"/>
          <p:cNvSpPr/>
          <p:nvPr/>
        </p:nvSpPr>
        <p:spPr>
          <a:xfrm>
            <a:off x="4690872" y="2148840"/>
            <a:ext cx="2779776" cy="301752"/>
          </a:xfrm>
          <a:prstGeom prst="rect">
            <a:avLst/>
          </a:prstGeom>
          <a:noFill/>
          <a:ln/>
        </p:spPr>
        <p:txBody>
          <a:bodyPr wrap="square" lIns="0" tIns="0" rIns="0" bIns="0" rtlCol="0" anchor="ctr"/>
          <a:lstStyle/>
          <a:p>
            <a:pPr marL="0" indent="0" algn="l">
              <a:lnSpc>
                <a:spcPct val="100000"/>
              </a:lnSpc>
              <a:buNone/>
            </a:pPr>
            <a:r>
              <a:rPr lang="en-US" sz="1360" b="1" dirty="0">
                <a:solidFill>
                  <a:srgbClr val="F7BD64"/>
                </a:solidFill>
                <a:latin typeface="Aptos" pitchFamily="34" charset="0"/>
                <a:ea typeface="Aptos" pitchFamily="34" charset="-122"/>
                <a:cs typeface="Aptos" pitchFamily="34" charset="-120"/>
              </a:rPr>
              <a:t>LIMITATIONS</a:t>
            </a:r>
            <a:endParaRPr lang="en-US" sz="1360" dirty="0"/>
          </a:p>
        </p:txBody>
      </p:sp>
      <p:sp>
        <p:nvSpPr>
          <p:cNvPr id="26" name="Shape 24"/>
          <p:cNvSpPr/>
          <p:nvPr/>
        </p:nvSpPr>
        <p:spPr>
          <a:xfrm>
            <a:off x="4681728" y="2761488"/>
            <a:ext cx="68580" cy="68580"/>
          </a:xfrm>
          <a:prstGeom prst="rect">
            <a:avLst/>
          </a:prstGeom>
          <a:solidFill>
            <a:srgbClr val="F7BD64"/>
          </a:solidFill>
          <a:ln w="12700">
            <a:solidFill>
              <a:srgbClr val="F7BD64">
                <a:alpha val="0"/>
              </a:srgbClr>
            </a:solidFill>
            <a:prstDash val="solid"/>
          </a:ln>
        </p:spPr>
      </p:sp>
      <p:sp>
        <p:nvSpPr>
          <p:cNvPr id="27" name="Text 25"/>
          <p:cNvSpPr/>
          <p:nvPr/>
        </p:nvSpPr>
        <p:spPr>
          <a:xfrm>
            <a:off x="4882896" y="2633472"/>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Live AI depends on network and API</a:t>
            </a:r>
            <a:endParaRPr lang="en-US" sz="1240" dirty="0"/>
          </a:p>
        </p:txBody>
      </p:sp>
      <p:sp>
        <p:nvSpPr>
          <p:cNvPr id="28" name="Shape 26"/>
          <p:cNvSpPr/>
          <p:nvPr/>
        </p:nvSpPr>
        <p:spPr>
          <a:xfrm>
            <a:off x="4681728" y="3346704"/>
            <a:ext cx="68580" cy="68580"/>
          </a:xfrm>
          <a:prstGeom prst="rect">
            <a:avLst/>
          </a:prstGeom>
          <a:solidFill>
            <a:srgbClr val="F7BD64"/>
          </a:solidFill>
          <a:ln w="12700">
            <a:solidFill>
              <a:srgbClr val="F7BD64">
                <a:alpha val="0"/>
              </a:srgbClr>
            </a:solidFill>
            <a:prstDash val="solid"/>
          </a:ln>
        </p:spPr>
      </p:sp>
      <p:sp>
        <p:nvSpPr>
          <p:cNvPr id="29" name="Text 27"/>
          <p:cNvSpPr/>
          <p:nvPr/>
        </p:nvSpPr>
        <p:spPr>
          <a:xfrm>
            <a:off x="4882896" y="3218688"/>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AI content requires accuracy checks</a:t>
            </a:r>
            <a:endParaRPr lang="en-US" sz="1240" dirty="0"/>
          </a:p>
        </p:txBody>
      </p:sp>
      <p:sp>
        <p:nvSpPr>
          <p:cNvPr id="30" name="Shape 28"/>
          <p:cNvSpPr/>
          <p:nvPr/>
        </p:nvSpPr>
        <p:spPr>
          <a:xfrm>
            <a:off x="4681728" y="3931920"/>
            <a:ext cx="68580" cy="68580"/>
          </a:xfrm>
          <a:prstGeom prst="rect">
            <a:avLst/>
          </a:prstGeom>
          <a:solidFill>
            <a:srgbClr val="F7BD64"/>
          </a:solidFill>
          <a:ln w="12700">
            <a:solidFill>
              <a:srgbClr val="F7BD64">
                <a:alpha val="0"/>
              </a:srgbClr>
            </a:solidFill>
            <a:prstDash val="solid"/>
          </a:ln>
        </p:spPr>
      </p:sp>
      <p:sp>
        <p:nvSpPr>
          <p:cNvPr id="31" name="Text 29"/>
          <p:cNvSpPr/>
          <p:nvPr/>
        </p:nvSpPr>
        <p:spPr>
          <a:xfrm>
            <a:off x="4882896" y="3803904"/>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Progress is not stored permanently</a:t>
            </a:r>
            <a:endParaRPr lang="en-US" sz="1240" dirty="0"/>
          </a:p>
        </p:txBody>
      </p:sp>
      <p:sp>
        <p:nvSpPr>
          <p:cNvPr id="32" name="Shape 30"/>
          <p:cNvSpPr/>
          <p:nvPr/>
        </p:nvSpPr>
        <p:spPr>
          <a:xfrm>
            <a:off x="4681728" y="4517136"/>
            <a:ext cx="68580" cy="68580"/>
          </a:xfrm>
          <a:prstGeom prst="rect">
            <a:avLst/>
          </a:prstGeom>
          <a:solidFill>
            <a:srgbClr val="F7BD64"/>
          </a:solidFill>
          <a:ln w="12700">
            <a:solidFill>
              <a:srgbClr val="F7BD64">
                <a:alpha val="0"/>
              </a:srgbClr>
            </a:solidFill>
            <a:prstDash val="solid"/>
          </a:ln>
        </p:spPr>
      </p:sp>
      <p:sp>
        <p:nvSpPr>
          <p:cNvPr id="33" name="Text 31"/>
          <p:cNvSpPr/>
          <p:nvPr/>
        </p:nvSpPr>
        <p:spPr>
          <a:xfrm>
            <a:off x="4882896" y="4389120"/>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Adaptation uses fixed score thresholds</a:t>
            </a:r>
            <a:endParaRPr lang="en-US" sz="1240" dirty="0"/>
          </a:p>
        </p:txBody>
      </p:sp>
      <p:sp>
        <p:nvSpPr>
          <p:cNvPr id="34" name="Shape 32"/>
          <p:cNvSpPr/>
          <p:nvPr/>
        </p:nvSpPr>
        <p:spPr>
          <a:xfrm>
            <a:off x="8375904" y="1755648"/>
            <a:ext cx="3200400" cy="4096512"/>
          </a:xfrm>
          <a:prstGeom prst="roundRect">
            <a:avLst>
              <a:gd name="adj" fmla="val 4857"/>
            </a:avLst>
          </a:prstGeom>
          <a:solidFill>
            <a:srgbClr val="141E35"/>
          </a:solidFill>
          <a:ln w="12700">
            <a:solidFill>
              <a:srgbClr val="2A3854"/>
            </a:solidFill>
            <a:prstDash val="solid"/>
          </a:ln>
        </p:spPr>
      </p:sp>
      <p:sp>
        <p:nvSpPr>
          <p:cNvPr id="35" name="Shape 33"/>
          <p:cNvSpPr/>
          <p:nvPr/>
        </p:nvSpPr>
        <p:spPr>
          <a:xfrm>
            <a:off x="8567928" y="1956816"/>
            <a:ext cx="310896" cy="64008"/>
          </a:xfrm>
          <a:prstGeom prst="rect">
            <a:avLst/>
          </a:prstGeom>
          <a:solidFill>
            <a:srgbClr val="A89DFF"/>
          </a:solidFill>
          <a:ln w="12700">
            <a:solidFill>
              <a:srgbClr val="A89DFF">
                <a:alpha val="0"/>
              </a:srgbClr>
            </a:solidFill>
            <a:prstDash val="solid"/>
          </a:ln>
        </p:spPr>
      </p:sp>
      <p:sp>
        <p:nvSpPr>
          <p:cNvPr id="36" name="Text 34"/>
          <p:cNvSpPr/>
          <p:nvPr/>
        </p:nvSpPr>
        <p:spPr>
          <a:xfrm>
            <a:off x="8558784" y="2148840"/>
            <a:ext cx="2779776" cy="301752"/>
          </a:xfrm>
          <a:prstGeom prst="rect">
            <a:avLst/>
          </a:prstGeom>
          <a:noFill/>
          <a:ln/>
        </p:spPr>
        <p:txBody>
          <a:bodyPr wrap="square" lIns="0" tIns="0" rIns="0" bIns="0" rtlCol="0" anchor="ctr"/>
          <a:lstStyle/>
          <a:p>
            <a:pPr marL="0" indent="0" algn="l">
              <a:lnSpc>
                <a:spcPct val="100000"/>
              </a:lnSpc>
              <a:buNone/>
            </a:pPr>
            <a:r>
              <a:rPr lang="en-US" sz="1360" b="1" dirty="0">
                <a:solidFill>
                  <a:srgbClr val="A89DFF"/>
                </a:solidFill>
                <a:latin typeface="Aptos" pitchFamily="34" charset="0"/>
                <a:ea typeface="Aptos" pitchFamily="34" charset="-122"/>
                <a:cs typeface="Aptos" pitchFamily="34" charset="-120"/>
              </a:rPr>
              <a:t>FUTURE SCOPE</a:t>
            </a:r>
            <a:endParaRPr lang="en-US" sz="1360" dirty="0"/>
          </a:p>
        </p:txBody>
      </p:sp>
      <p:sp>
        <p:nvSpPr>
          <p:cNvPr id="37" name="Shape 35"/>
          <p:cNvSpPr/>
          <p:nvPr/>
        </p:nvSpPr>
        <p:spPr>
          <a:xfrm>
            <a:off x="8549640" y="2761488"/>
            <a:ext cx="68580" cy="68580"/>
          </a:xfrm>
          <a:prstGeom prst="rect">
            <a:avLst/>
          </a:prstGeom>
          <a:solidFill>
            <a:srgbClr val="A89DFF"/>
          </a:solidFill>
          <a:ln w="12700">
            <a:solidFill>
              <a:srgbClr val="A89DFF">
                <a:alpha val="0"/>
              </a:srgbClr>
            </a:solidFill>
            <a:prstDash val="solid"/>
          </a:ln>
        </p:spPr>
      </p:sp>
      <p:sp>
        <p:nvSpPr>
          <p:cNvPr id="38" name="Text 36"/>
          <p:cNvSpPr/>
          <p:nvPr/>
        </p:nvSpPr>
        <p:spPr>
          <a:xfrm>
            <a:off x="8750808" y="2633472"/>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Student accounts and a database</a:t>
            </a:r>
            <a:endParaRPr lang="en-US" sz="1240" dirty="0"/>
          </a:p>
        </p:txBody>
      </p:sp>
      <p:sp>
        <p:nvSpPr>
          <p:cNvPr id="39" name="Shape 37"/>
          <p:cNvSpPr/>
          <p:nvPr/>
        </p:nvSpPr>
        <p:spPr>
          <a:xfrm>
            <a:off x="8549640" y="3346704"/>
            <a:ext cx="68580" cy="68580"/>
          </a:xfrm>
          <a:prstGeom prst="rect">
            <a:avLst/>
          </a:prstGeom>
          <a:solidFill>
            <a:srgbClr val="A89DFF"/>
          </a:solidFill>
          <a:ln w="12700">
            <a:solidFill>
              <a:srgbClr val="A89DFF">
                <a:alpha val="0"/>
              </a:srgbClr>
            </a:solidFill>
            <a:prstDash val="solid"/>
          </a:ln>
        </p:spPr>
      </p:sp>
      <p:sp>
        <p:nvSpPr>
          <p:cNvPr id="40" name="Text 38"/>
          <p:cNvSpPr/>
          <p:nvPr/>
        </p:nvSpPr>
        <p:spPr>
          <a:xfrm>
            <a:off x="8750808" y="3218688"/>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Upload syllabus and PDF learning material</a:t>
            </a:r>
            <a:endParaRPr lang="en-US" sz="1240" dirty="0"/>
          </a:p>
        </p:txBody>
      </p:sp>
      <p:sp>
        <p:nvSpPr>
          <p:cNvPr id="41" name="Shape 39"/>
          <p:cNvSpPr/>
          <p:nvPr/>
        </p:nvSpPr>
        <p:spPr>
          <a:xfrm>
            <a:off x="8549640" y="3931920"/>
            <a:ext cx="68580" cy="68580"/>
          </a:xfrm>
          <a:prstGeom prst="rect">
            <a:avLst/>
          </a:prstGeom>
          <a:solidFill>
            <a:srgbClr val="A89DFF"/>
          </a:solidFill>
          <a:ln w="12700">
            <a:solidFill>
              <a:srgbClr val="A89DFF">
                <a:alpha val="0"/>
              </a:srgbClr>
            </a:solidFill>
            <a:prstDash val="solid"/>
          </a:ln>
        </p:spPr>
      </p:sp>
      <p:sp>
        <p:nvSpPr>
          <p:cNvPr id="42" name="Text 40"/>
          <p:cNvSpPr/>
          <p:nvPr/>
        </p:nvSpPr>
        <p:spPr>
          <a:xfrm>
            <a:off x="8750808" y="3803904"/>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AI doubt-solving tutor</a:t>
            </a:r>
            <a:endParaRPr lang="en-US" sz="1240" dirty="0"/>
          </a:p>
        </p:txBody>
      </p:sp>
      <p:sp>
        <p:nvSpPr>
          <p:cNvPr id="43" name="Shape 41"/>
          <p:cNvSpPr/>
          <p:nvPr/>
        </p:nvSpPr>
        <p:spPr>
          <a:xfrm>
            <a:off x="8549640" y="4517136"/>
            <a:ext cx="68580" cy="68580"/>
          </a:xfrm>
          <a:prstGeom prst="rect">
            <a:avLst/>
          </a:prstGeom>
          <a:solidFill>
            <a:srgbClr val="A89DFF"/>
          </a:solidFill>
          <a:ln w="12700">
            <a:solidFill>
              <a:srgbClr val="A89DFF">
                <a:alpha val="0"/>
              </a:srgbClr>
            </a:solidFill>
            <a:prstDash val="solid"/>
          </a:ln>
        </p:spPr>
      </p:sp>
      <p:sp>
        <p:nvSpPr>
          <p:cNvPr id="44" name="Text 42"/>
          <p:cNvSpPr/>
          <p:nvPr/>
        </p:nvSpPr>
        <p:spPr>
          <a:xfrm>
            <a:off x="8750808" y="4389120"/>
            <a:ext cx="2615184"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F8FAFF"/>
                </a:solidFill>
                <a:latin typeface="Aptos" pitchFamily="34" charset="0"/>
                <a:ea typeface="Aptos" pitchFamily="34" charset="-122"/>
                <a:cs typeface="Aptos" pitchFamily="34" charset="-120"/>
              </a:rPr>
              <a:t>Smarter weakness tracking and analytics</a:t>
            </a:r>
            <a:endParaRPr lang="en-US" sz="1240" dirty="0"/>
          </a:p>
        </p:txBody>
      </p:sp>
      <p:sp>
        <p:nvSpPr>
          <p:cNvPr id="45" name="Shape 43"/>
          <p:cNvSpPr/>
          <p:nvPr/>
        </p:nvSpPr>
        <p:spPr>
          <a:xfrm>
            <a:off x="676656" y="6016752"/>
            <a:ext cx="10808208" cy="320040"/>
          </a:xfrm>
          <a:prstGeom prst="roundRect">
            <a:avLst>
              <a:gd name="adj" fmla="val 48571"/>
            </a:avLst>
          </a:prstGeom>
          <a:solidFill>
            <a:srgbClr val="192541"/>
          </a:solidFill>
          <a:ln w="12700">
            <a:solidFill>
              <a:srgbClr val="192541">
                <a:alpha val="0"/>
              </a:srgbClr>
            </a:solidFill>
            <a:prstDash val="solid"/>
          </a:ln>
        </p:spPr>
      </p:sp>
      <p:sp>
        <p:nvSpPr>
          <p:cNvPr id="46" name="Text 44"/>
          <p:cNvSpPr/>
          <p:nvPr/>
        </p:nvSpPr>
        <p:spPr>
          <a:xfrm>
            <a:off x="868680" y="6089904"/>
            <a:ext cx="10451592" cy="164592"/>
          </a:xfrm>
          <a:prstGeom prst="rect">
            <a:avLst/>
          </a:prstGeom>
          <a:noFill/>
          <a:ln/>
        </p:spPr>
        <p:txBody>
          <a:bodyPr wrap="square" lIns="0" tIns="0" rIns="0" bIns="0" rtlCol="0" anchor="ctr"/>
          <a:lstStyle/>
          <a:p>
            <a:pPr marL="0" indent="0" algn="ctr">
              <a:lnSpc>
                <a:spcPct val="100000"/>
              </a:lnSpc>
              <a:buNone/>
            </a:pPr>
            <a:r>
              <a:rPr lang="en-US" sz="1270" b="1" dirty="0">
                <a:solidFill>
                  <a:srgbClr val="F8FAFF"/>
                </a:solidFill>
                <a:latin typeface="Aptos" pitchFamily="34" charset="0"/>
                <a:ea typeface="Aptos" pitchFamily="34" charset="-122"/>
                <a:cs typeface="Aptos" pitchFamily="34" charset="-120"/>
              </a:rPr>
              <a:t>AdaptLearn AI: a practical foundation for personalized, AI-assisted learning.</a:t>
            </a:r>
            <a:endParaRPr lang="en-US" sz="12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1278</Words>
  <Application>Microsoft Office PowerPoint</Application>
  <PresentationFormat>Widescreen</PresentationFormat>
  <Paragraphs>145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B.Tech AI/ML Academic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AdaptLearn AI — Final Project Presentation</dc:title>
  <dc:subject>AI-Based Personalized Learning Content Generator</dc:subject>
  <dc:creator>AdaptLearn AI project team</dc:creator>
  <cp:lastModifiedBy>Hrishabh Jagtap</cp:lastModifiedBy>
  <cp:revision>2</cp:revision>
  <dcterms:created xsi:type="dcterms:W3CDTF">2026-10-29T14:30:49Z</dcterms:created>
  <dcterms:modified xsi:type="dcterms:W3CDTF">2026-10-29T17:38:40Z</dcterms:modified>
</cp:coreProperties>
</file>